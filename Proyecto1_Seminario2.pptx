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5" r:id="rId6"/>
    <p:sldId id="266" r:id="rId7"/>
    <p:sldId id="267" r:id="rId8"/>
    <p:sldId id="259" r:id="rId9"/>
    <p:sldId id="264" r:id="rId10"/>
    <p:sldId id="261" r:id="rId11"/>
    <p:sldId id="260" r:id="rId12"/>
    <p:sldId id="262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C371C5-C818-BDBD-7521-303D212469CB}" v="1234" dt="2026-04-15T19:53:08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0" autoAdjust="0"/>
    <p:restoredTop sz="94660"/>
  </p:normalViewPr>
  <p:slideViewPr>
    <p:cSldViewPr snapToGrid="0">
      <p:cViewPr>
        <p:scale>
          <a:sx n="100" d="100"/>
          <a:sy n="100" d="100"/>
        </p:scale>
        <p:origin x="-182" y="-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Proyecto 1 Seminario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Ricardo Rodríguez 18907</a:t>
            </a:r>
          </a:p>
          <a:p>
            <a:r>
              <a:rPr lang="es-ES"/>
              <a:t>Ian Castellanos 22128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81BC3-D3E5-BF85-1689-0DB736917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Preguntas</a:t>
            </a:r>
            <a:r>
              <a:rPr lang="en-US" dirty="0"/>
              <a:t> de </a:t>
            </a:r>
            <a:r>
              <a:rPr lang="en-US" dirty="0" err="1"/>
              <a:t>investigación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CF7AA-D9BE-D440-F244-2E2A07114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se </a:t>
            </a:r>
            <a:r>
              <a:rPr lang="en-US" dirty="0" err="1"/>
              <a:t>vio</a:t>
            </a:r>
            <a:r>
              <a:rPr lang="en-US" dirty="0"/>
              <a:t> </a:t>
            </a:r>
            <a:r>
              <a:rPr lang="en-US" dirty="0" err="1"/>
              <a:t>afectado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uso</a:t>
            </a:r>
            <a:r>
              <a:rPr lang="en-US" dirty="0"/>
              <a:t> de </a:t>
            </a:r>
            <a:r>
              <a:rPr lang="en-US" dirty="0" err="1"/>
              <a:t>biciletas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época</a:t>
            </a:r>
            <a:r>
              <a:rPr lang="en-US" dirty="0"/>
              <a:t> del COVID-19?</a:t>
            </a:r>
          </a:p>
          <a:p>
            <a:pPr marL="514350" indent="-514350">
              <a:buAutoNum type="arabicPeriod"/>
            </a:pPr>
            <a:r>
              <a:rPr lang="en-US" dirty="0"/>
              <a:t>¿</a:t>
            </a:r>
            <a:r>
              <a:rPr lang="en-US" dirty="0" err="1"/>
              <a:t>Cuáles</a:t>
            </a:r>
            <a:r>
              <a:rPr lang="en-US" dirty="0"/>
              <a:t> días son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prestan</a:t>
            </a:r>
            <a:r>
              <a:rPr lang="en-US" dirty="0"/>
              <a:t> 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bicicletas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r>
              <a:rPr lang="en-US" dirty="0"/>
              <a:t>¿Las </a:t>
            </a:r>
            <a:r>
              <a:rPr lang="en-US" dirty="0" err="1"/>
              <a:t>frecuencias</a:t>
            </a:r>
            <a:r>
              <a:rPr lang="en-US" dirty="0"/>
              <a:t> de </a:t>
            </a:r>
            <a:r>
              <a:rPr lang="en-US" dirty="0" err="1"/>
              <a:t>arribo</a:t>
            </a:r>
            <a:r>
              <a:rPr lang="en-US" dirty="0"/>
              <a:t> y </a:t>
            </a:r>
            <a:r>
              <a:rPr lang="en-US" dirty="0" err="1"/>
              <a:t>retiro</a:t>
            </a:r>
            <a:r>
              <a:rPr lang="en-US" dirty="0"/>
              <a:t> </a:t>
            </a:r>
            <a:r>
              <a:rPr lang="en-US" dirty="0" err="1"/>
              <a:t>serán</a:t>
            </a:r>
            <a:r>
              <a:rPr lang="en-US" dirty="0"/>
              <a:t> </a:t>
            </a:r>
            <a:r>
              <a:rPr lang="en-US" dirty="0" err="1"/>
              <a:t>mayores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centro</a:t>
            </a:r>
            <a:r>
              <a:rPr lang="en-US" dirty="0"/>
              <a:t> del </a:t>
            </a:r>
            <a:r>
              <a:rPr lang="en-US" dirty="0" err="1"/>
              <a:t>mapa</a:t>
            </a:r>
            <a:r>
              <a:rPr lang="en-US" dirty="0"/>
              <a:t> de </a:t>
            </a:r>
            <a:r>
              <a:rPr lang="en-US" dirty="0" err="1"/>
              <a:t>estaciones</a:t>
            </a:r>
            <a:r>
              <a:rPr lang="en-US" dirty="0"/>
              <a:t> de ECOBICI?</a:t>
            </a:r>
          </a:p>
          <a:p>
            <a:pPr marL="514350" indent="-514350">
              <a:buAutoNum type="arabicPeriod"/>
            </a:pPr>
            <a:r>
              <a:rPr lang="en-US" dirty="0"/>
              <a:t>¿</a:t>
            </a:r>
            <a:r>
              <a:rPr lang="en-US" dirty="0" err="1"/>
              <a:t>Cuáles</a:t>
            </a:r>
            <a:r>
              <a:rPr lang="en-US" dirty="0"/>
              <a:t> son las </a:t>
            </a:r>
            <a:r>
              <a:rPr lang="en-US" dirty="0" err="1"/>
              <a:t>estaciones</a:t>
            </a:r>
            <a:r>
              <a:rPr lang="en-US" dirty="0"/>
              <a:t> </a:t>
            </a:r>
            <a:r>
              <a:rPr lang="en-US" dirty="0" err="1"/>
              <a:t>en</a:t>
            </a:r>
            <a:r>
              <a:rPr lang="en-US" dirty="0"/>
              <a:t> las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se </a:t>
            </a:r>
            <a:r>
              <a:rPr lang="en-US" dirty="0" err="1"/>
              <a:t>prestan</a:t>
            </a:r>
            <a:r>
              <a:rPr lang="en-US" dirty="0"/>
              <a:t> </a:t>
            </a:r>
            <a:r>
              <a:rPr lang="en-US" dirty="0" err="1"/>
              <a:t>bicicletas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r>
              <a:rPr lang="en-US" dirty="0"/>
              <a:t>¿</a:t>
            </a:r>
            <a:r>
              <a:rPr lang="en-US" dirty="0" err="1"/>
              <a:t>Cuáles</a:t>
            </a:r>
            <a:r>
              <a:rPr lang="en-US" dirty="0"/>
              <a:t> son las </a:t>
            </a:r>
            <a:r>
              <a:rPr lang="en-US" dirty="0" err="1"/>
              <a:t>estaciones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dejan</a:t>
            </a:r>
            <a:r>
              <a:rPr lang="en-US" dirty="0"/>
              <a:t> </a:t>
            </a:r>
            <a:r>
              <a:rPr lang="en-US" dirty="0" err="1"/>
              <a:t>bicicletas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36810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A0D9-E23A-434F-85BE-7CE0C799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Descripción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D1742-1A0E-6DDB-549A-CBC319F33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Se </a:t>
            </a:r>
            <a:r>
              <a:rPr lang="en-US" dirty="0" err="1"/>
              <a:t>han</a:t>
            </a:r>
            <a:r>
              <a:rPr lang="en-US" dirty="0"/>
              <a:t> </a:t>
            </a:r>
            <a:r>
              <a:rPr lang="en-US" dirty="0" err="1"/>
              <a:t>usado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históricos</a:t>
            </a:r>
            <a:r>
              <a:rPr lang="en-US" dirty="0"/>
              <a:t> de ECOBICI </a:t>
            </a:r>
            <a:r>
              <a:rPr lang="en-US" dirty="0" err="1"/>
              <a:t>correspondientes</a:t>
            </a:r>
            <a:r>
              <a:rPr lang="en-US" dirty="0"/>
              <a:t> a la Semana Santa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2015 al 2025.</a:t>
            </a:r>
          </a:p>
          <a:p>
            <a:r>
              <a:rPr lang="en-US" dirty="0"/>
              <a:t>Las variables </a:t>
            </a:r>
            <a:r>
              <a:rPr lang="en-US" dirty="0" err="1"/>
              <a:t>consideradas</a:t>
            </a:r>
            <a:r>
              <a:rPr lang="en-US" dirty="0"/>
              <a:t> para </a:t>
            </a:r>
            <a:r>
              <a:rPr lang="en-US" dirty="0" err="1"/>
              <a:t>el</a:t>
            </a:r>
            <a:r>
              <a:rPr lang="en-US" dirty="0"/>
              <a:t> </a:t>
            </a:r>
            <a:r>
              <a:rPr lang="en-US" dirty="0" err="1"/>
              <a:t>análisis</a:t>
            </a:r>
            <a:r>
              <a:rPr lang="en-US" dirty="0"/>
              <a:t> </a:t>
            </a:r>
            <a:r>
              <a:rPr lang="en-US" dirty="0" err="1"/>
              <a:t>fueron</a:t>
            </a:r>
            <a:r>
              <a:rPr lang="en-US" dirty="0"/>
              <a:t>: </a:t>
            </a:r>
            <a:r>
              <a:rPr lang="en-US" dirty="0" err="1"/>
              <a:t>Fecha</a:t>
            </a:r>
            <a:r>
              <a:rPr lang="en-US" dirty="0"/>
              <a:t> de </a:t>
            </a:r>
            <a:r>
              <a:rPr lang="en-US" dirty="0" err="1"/>
              <a:t>retiro</a:t>
            </a:r>
            <a:r>
              <a:rPr lang="en-US" dirty="0"/>
              <a:t> de </a:t>
            </a:r>
            <a:r>
              <a:rPr lang="en-US" dirty="0" err="1"/>
              <a:t>bicicletas</a:t>
            </a:r>
            <a:r>
              <a:rPr lang="en-US" dirty="0"/>
              <a:t>, </a:t>
            </a:r>
            <a:r>
              <a:rPr lang="en-US" dirty="0" err="1"/>
              <a:t>fecha</a:t>
            </a:r>
            <a:r>
              <a:rPr lang="en-US" dirty="0"/>
              <a:t> de </a:t>
            </a:r>
            <a:r>
              <a:rPr lang="en-US" dirty="0" err="1"/>
              <a:t>arribo</a:t>
            </a:r>
            <a:r>
              <a:rPr lang="en-US" dirty="0"/>
              <a:t> de la </a:t>
            </a:r>
            <a:r>
              <a:rPr lang="en-US" dirty="0" err="1"/>
              <a:t>bicicleta</a:t>
            </a:r>
            <a:r>
              <a:rPr lang="en-US" dirty="0"/>
              <a:t>, </a:t>
            </a:r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estación</a:t>
            </a:r>
            <a:r>
              <a:rPr lang="en-US" dirty="0"/>
              <a:t>, </a:t>
            </a:r>
            <a:r>
              <a:rPr lang="en-US" dirty="0" err="1"/>
              <a:t>coordenadas</a:t>
            </a:r>
            <a:r>
              <a:rPr lang="en-US" dirty="0"/>
              <a:t> de la </a:t>
            </a:r>
            <a:r>
              <a:rPr lang="en-US" dirty="0" err="1"/>
              <a:t>estación</a:t>
            </a:r>
            <a:endParaRPr lang="en-US" dirty="0"/>
          </a:p>
          <a:p>
            <a:r>
              <a:rPr lang="en-US" dirty="0"/>
              <a:t>Los </a:t>
            </a:r>
            <a:r>
              <a:rPr lang="en-US" dirty="0" err="1"/>
              <a:t>datos</a:t>
            </a:r>
            <a:r>
              <a:rPr lang="en-US" dirty="0"/>
              <a:t> no </a:t>
            </a:r>
            <a:r>
              <a:rPr lang="en-US" dirty="0" err="1"/>
              <a:t>contaban</a:t>
            </a:r>
            <a:r>
              <a:rPr lang="en-US" dirty="0"/>
              <a:t> con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faltantes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2834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66D7F65-E9B6-4775-8355-D095CC73C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A3000-7648-F4A8-FD09-38C894BED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502021"/>
            <a:ext cx="6173262" cy="1655483"/>
          </a:xfrm>
        </p:spPr>
        <p:txBody>
          <a:bodyPr anchor="b">
            <a:normAutofit/>
          </a:bodyPr>
          <a:lstStyle/>
          <a:p>
            <a:r>
              <a:rPr lang="en-US" sz="4000"/>
              <a:t>Mapa de calor de estaciones de retiro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776977E-BACF-89CE-59C9-494EB1248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930979"/>
            <a:ext cx="6173262" cy="101237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GT" sz="2000" noProof="0" dirty="0"/>
              <a:t>Se puede observar que las estaciones cercanas al centro del mapa son en las que más se retiran bicicletas.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D767D5-403E-EC3A-D888-C55A5FFCF3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0" r="2" b="2"/>
          <a:stretch>
            <a:fillRect/>
          </a:stretch>
        </p:blipFill>
        <p:spPr>
          <a:xfrm>
            <a:off x="8115298" y="-25031"/>
            <a:ext cx="4076700" cy="641863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48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4203DA-8189-DF68-0AAC-77D786186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D5CB6B2-6858-E2C2-E74B-423FBF071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2FDE9-3413-AC7E-49E3-15BE7AC1C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502021"/>
            <a:ext cx="6173262" cy="1655483"/>
          </a:xfrm>
        </p:spPr>
        <p:txBody>
          <a:bodyPr anchor="b">
            <a:normAutofit/>
          </a:bodyPr>
          <a:lstStyle/>
          <a:p>
            <a:r>
              <a:rPr lang="en-US" sz="4000" dirty="0"/>
              <a:t>Mapa de </a:t>
            </a:r>
            <a:r>
              <a:rPr lang="en-US" sz="4000" dirty="0" err="1"/>
              <a:t>calor</a:t>
            </a:r>
            <a:r>
              <a:rPr lang="en-US" sz="4000" dirty="0"/>
              <a:t> de </a:t>
            </a:r>
            <a:r>
              <a:rPr lang="en-US" sz="4000" dirty="0" err="1"/>
              <a:t>estaciones</a:t>
            </a:r>
            <a:r>
              <a:rPr lang="en-US" sz="4000" dirty="0"/>
              <a:t> de </a:t>
            </a:r>
            <a:r>
              <a:rPr lang="en-US" sz="4000" dirty="0" err="1"/>
              <a:t>arribo</a:t>
            </a:r>
            <a:endParaRPr lang="en-US" sz="4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D2888A-B069-069A-793C-8E0F236F5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C413D8-B984-1560-5454-D23A722C0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9A6D6C-8B0B-A6B5-B1B3-C4BEB4480F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057" y="-3376"/>
            <a:ext cx="4386941" cy="6409492"/>
          </a:xfrm>
          <a:prstGeom prst="rect">
            <a:avLst/>
          </a:prstGeom>
        </p:spPr>
      </p:pic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5D3AD3ED-9DFD-A9DC-3AD0-A87461C84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930979"/>
            <a:ext cx="6173262" cy="10776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GT" sz="2000" noProof="0" dirty="0"/>
              <a:t>Se puede observar que las estaciones cercanas al centro del mapa son en las que más se devuelven bicicletas.</a:t>
            </a:r>
          </a:p>
        </p:txBody>
      </p:sp>
    </p:spTree>
    <p:extLst>
      <p:ext uri="{BB962C8B-B14F-4D97-AF65-F5344CB8AC3E}">
        <p14:creationId xmlns:p14="http://schemas.microsoft.com/office/powerpoint/2010/main" val="2875470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9E8E4-E84C-7FA8-19D1-901CCEBE8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A98CF-A2F3-BA10-A7B9-E689F3758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10 estaciones que más prestan bicicletas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EB0F486F-57CF-A794-7E72-A137EA005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1105446"/>
            <a:ext cx="6780700" cy="464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424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22F346-2673-83F5-B2F0-7A1AA239D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ED641-86CD-C092-48EF-C2D996374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10 estaciones que más reciben bicicletas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68341914-EB2E-63E0-A74D-2164693A61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1317343"/>
            <a:ext cx="6780700" cy="422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05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06C9-CE7A-23A0-872C-0E567F4F6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 dirty="0" err="1"/>
              <a:t>Visualización</a:t>
            </a:r>
            <a:r>
              <a:rPr lang="en-US" sz="3200" dirty="0"/>
              <a:t> de </a:t>
            </a:r>
            <a:r>
              <a:rPr lang="en-US" sz="3200" dirty="0" err="1"/>
              <a:t>los</a:t>
            </a:r>
            <a:r>
              <a:rPr lang="en-US" sz="3200" dirty="0"/>
              <a:t> </a:t>
            </a:r>
            <a:r>
              <a:rPr lang="en-US" sz="3200" dirty="0" err="1"/>
              <a:t>datos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678DC7-FA19-384D-41F0-6533B55D0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posible</a:t>
            </a:r>
            <a:r>
              <a:rPr lang="en-US" sz="2000" dirty="0"/>
              <a:t> </a:t>
            </a:r>
            <a:r>
              <a:rPr lang="en-US" sz="2000" dirty="0" err="1"/>
              <a:t>observar</a:t>
            </a:r>
            <a:r>
              <a:rPr lang="en-US" sz="2000" dirty="0"/>
              <a:t> 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datos</a:t>
            </a:r>
            <a:r>
              <a:rPr lang="en-US" sz="2000" dirty="0"/>
              <a:t> se </a:t>
            </a:r>
            <a:r>
              <a:rPr lang="en-US" sz="2000" dirty="0" err="1"/>
              <a:t>dividen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 dos conjuntos bien </a:t>
            </a:r>
            <a:r>
              <a:rPr lang="en-US" sz="2000" dirty="0" err="1"/>
              <a:t>diferenciados</a:t>
            </a:r>
            <a:r>
              <a:rPr lang="en-US" sz="2000" dirty="0"/>
              <a:t>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0DAE6F-2E2D-B070-56D2-3B9743617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013690"/>
            <a:ext cx="6128388" cy="466247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11294EC-74C2-68D6-F7FD-3E33FDF18C9F}"/>
              </a:ext>
            </a:extLst>
          </p:cNvPr>
          <p:cNvSpPr txBox="1"/>
          <p:nvPr/>
        </p:nvSpPr>
        <p:spPr>
          <a:xfrm>
            <a:off x="5425230" y="5681379"/>
            <a:ext cx="48974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Figura1. </a:t>
            </a:r>
            <a:r>
              <a:rPr lang="en-US" sz="1600" dirty="0" err="1"/>
              <a:t>Visualización</a:t>
            </a:r>
            <a:r>
              <a:rPr lang="en-US" sz="1600" dirty="0"/>
              <a:t> con PCA del conjunto de </a:t>
            </a:r>
            <a:r>
              <a:rPr lang="en-US" sz="1600" dirty="0" err="1"/>
              <a:t>datos</a:t>
            </a:r>
            <a:r>
              <a:rPr lang="en-US" sz="1600" dirty="0"/>
              <a:t> </a:t>
            </a:r>
            <a:r>
              <a:rPr lang="en-US" sz="1600" dirty="0" err="1"/>
              <a:t>usado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39044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7B8F08-64E1-BDCA-745A-0D80ABE25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s-GT" sz="3100" dirty="0"/>
              <a:t>Influencia de la pandemia en el uso de bicicletas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BC19EE0-9B19-4047-66B9-58DA70108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 dirty="0"/>
              <a:t>Se </a:t>
            </a:r>
            <a:r>
              <a:rPr lang="en-US" sz="1800" dirty="0" err="1"/>
              <a:t>observa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la imagen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el</a:t>
            </a:r>
            <a:r>
              <a:rPr lang="en-US" sz="1800" dirty="0"/>
              <a:t> </a:t>
            </a:r>
            <a:r>
              <a:rPr lang="en-US" sz="1800" dirty="0" err="1"/>
              <a:t>uso</a:t>
            </a:r>
            <a:r>
              <a:rPr lang="en-US" sz="1800" dirty="0"/>
              <a:t> de las </a:t>
            </a:r>
            <a:r>
              <a:rPr lang="en-US" sz="1800" dirty="0" err="1"/>
              <a:t>bicicletas</a:t>
            </a:r>
            <a:r>
              <a:rPr lang="en-US" sz="1800" dirty="0"/>
              <a:t> </a:t>
            </a:r>
            <a:r>
              <a:rPr lang="en-US" sz="1800" dirty="0" err="1"/>
              <a:t>fue</a:t>
            </a:r>
            <a:r>
              <a:rPr lang="en-US" sz="1800" dirty="0"/>
              <a:t> mayor </a:t>
            </a:r>
            <a:r>
              <a:rPr lang="en-US" sz="1800" dirty="0" err="1"/>
              <a:t>después</a:t>
            </a:r>
            <a:r>
              <a:rPr lang="en-US" sz="1800" dirty="0"/>
              <a:t> de la pandemia </a:t>
            </a:r>
            <a:r>
              <a:rPr lang="en-US" sz="1800" dirty="0" err="1"/>
              <a:t>que</a:t>
            </a:r>
            <a:r>
              <a:rPr lang="en-US" sz="1800" dirty="0"/>
              <a:t> antes de la </a:t>
            </a:r>
            <a:r>
              <a:rPr lang="en-US" sz="1800" dirty="0" err="1"/>
              <a:t>misma</a:t>
            </a:r>
            <a:r>
              <a:rPr lang="en-US" sz="1800" dirty="0"/>
              <a:t>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1EC1150-20D1-2C04-2018-215E831AC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742914"/>
            <a:ext cx="6440424" cy="3316818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E15F4B84-8A57-CD3F-DD4D-A8F67E221A9E}"/>
              </a:ext>
            </a:extLst>
          </p:cNvPr>
          <p:cNvSpPr txBox="1"/>
          <p:nvPr/>
        </p:nvSpPr>
        <p:spPr>
          <a:xfrm>
            <a:off x="6552281" y="5181649"/>
            <a:ext cx="48974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Figura2. </a:t>
            </a:r>
            <a:r>
              <a:rPr lang="en-US" sz="1600" dirty="0" err="1"/>
              <a:t>Tendencia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los</a:t>
            </a:r>
            <a:r>
              <a:rPr lang="en-US" sz="1600" dirty="0"/>
              <a:t> </a:t>
            </a:r>
            <a:r>
              <a:rPr lang="en-US" sz="1600" dirty="0" err="1"/>
              <a:t>préstamos</a:t>
            </a:r>
            <a:r>
              <a:rPr lang="en-US" sz="1600" dirty="0"/>
              <a:t> </a:t>
            </a:r>
            <a:r>
              <a:rPr lang="en-US" sz="1600" dirty="0" err="1"/>
              <a:t>promedio</a:t>
            </a:r>
            <a:r>
              <a:rPr lang="en-US" sz="1600" dirty="0"/>
              <a:t> de </a:t>
            </a:r>
            <a:r>
              <a:rPr lang="en-US" sz="1600" dirty="0" err="1"/>
              <a:t>bicicletas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0698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5D9FD-4EA7-988D-B7B1-75994B58F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0101C2-4733-925E-AF79-6E887E439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989716" cy="1719072"/>
          </a:xfrm>
        </p:spPr>
        <p:txBody>
          <a:bodyPr anchor="b">
            <a:normAutofit/>
          </a:bodyPr>
          <a:lstStyle/>
          <a:p>
            <a:r>
              <a:rPr lang="en-US" sz="3800" dirty="0" err="1"/>
              <a:t>Préstamos</a:t>
            </a:r>
            <a:r>
              <a:rPr lang="en-US" sz="3800" dirty="0"/>
              <a:t> de </a:t>
            </a:r>
            <a:r>
              <a:rPr lang="en-US" sz="3800" dirty="0" err="1"/>
              <a:t>bicicletas</a:t>
            </a:r>
            <a:r>
              <a:rPr lang="en-US" sz="3800" dirty="0"/>
              <a:t> </a:t>
            </a:r>
            <a:r>
              <a:rPr lang="en-US" sz="3800" dirty="0" err="1"/>
              <a:t>durante</a:t>
            </a:r>
            <a:r>
              <a:rPr lang="en-US" sz="3800" dirty="0"/>
              <a:t> la </a:t>
            </a:r>
            <a:r>
              <a:rPr lang="en-US" sz="3800" dirty="0" err="1"/>
              <a:t>semana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2210A55-7B50-8D9C-D0B2-79DE765DA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Se </a:t>
            </a:r>
            <a:r>
              <a:rPr lang="en-US" sz="2200" dirty="0" err="1"/>
              <a:t>observa</a:t>
            </a:r>
            <a:r>
              <a:rPr lang="en-US" sz="2200" dirty="0"/>
              <a:t> de la </a:t>
            </a:r>
            <a:r>
              <a:rPr lang="en-US" sz="2200" dirty="0" err="1"/>
              <a:t>figura</a:t>
            </a:r>
            <a:r>
              <a:rPr lang="en-US" sz="2200" dirty="0"/>
              <a:t> </a:t>
            </a:r>
            <a:r>
              <a:rPr lang="en-US" sz="2200" dirty="0" err="1"/>
              <a:t>que</a:t>
            </a:r>
            <a:r>
              <a:rPr lang="en-US" sz="2200" dirty="0"/>
              <a:t> </a:t>
            </a:r>
            <a:r>
              <a:rPr lang="en-US" sz="2200" dirty="0" err="1"/>
              <a:t>los</a:t>
            </a:r>
            <a:r>
              <a:rPr lang="en-US" sz="2200" dirty="0"/>
              <a:t> días lunes, martes y </a:t>
            </a:r>
            <a:r>
              <a:rPr lang="en-US" sz="2200" dirty="0" err="1"/>
              <a:t>miércoles</a:t>
            </a:r>
            <a:r>
              <a:rPr lang="en-US" sz="2200" dirty="0"/>
              <a:t> son </a:t>
            </a:r>
            <a:r>
              <a:rPr lang="en-US" sz="2200" dirty="0" err="1"/>
              <a:t>aquellos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que</a:t>
            </a:r>
            <a:r>
              <a:rPr lang="en-US" sz="2200" dirty="0"/>
              <a:t> se ha </a:t>
            </a:r>
            <a:r>
              <a:rPr lang="en-US" sz="2200" dirty="0" err="1"/>
              <a:t>realizado</a:t>
            </a:r>
            <a:r>
              <a:rPr lang="en-US" sz="2200" dirty="0"/>
              <a:t> mayor </a:t>
            </a:r>
            <a:r>
              <a:rPr lang="en-US" sz="2200" dirty="0" err="1"/>
              <a:t>número</a:t>
            </a:r>
            <a:r>
              <a:rPr lang="en-US" sz="2200" dirty="0"/>
              <a:t> de </a:t>
            </a:r>
            <a:r>
              <a:rPr lang="en-US" sz="2200" dirty="0" err="1"/>
              <a:t>retiros</a:t>
            </a:r>
            <a:r>
              <a:rPr lang="en-US" sz="2200" dirty="0"/>
              <a:t> de </a:t>
            </a:r>
            <a:r>
              <a:rPr lang="en-US" sz="2200" dirty="0" err="1"/>
              <a:t>bicletas</a:t>
            </a:r>
            <a:r>
              <a:rPr lang="en-US" sz="2200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6703EC-F08B-D6CA-C596-B3E79CD9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25403"/>
            <a:ext cx="6903720" cy="3607193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478620BD-B298-B768-BA14-8163BE5746A8}"/>
              </a:ext>
            </a:extLst>
          </p:cNvPr>
          <p:cNvSpPr txBox="1"/>
          <p:nvPr/>
        </p:nvSpPr>
        <p:spPr>
          <a:xfrm>
            <a:off x="5531555" y="5309239"/>
            <a:ext cx="48974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Figura3. </a:t>
            </a:r>
            <a:r>
              <a:rPr lang="en-US" sz="1600" dirty="0" err="1"/>
              <a:t>Demanda</a:t>
            </a:r>
            <a:r>
              <a:rPr lang="en-US" sz="1600" dirty="0"/>
              <a:t> </a:t>
            </a:r>
            <a:r>
              <a:rPr lang="en-US" sz="1600" dirty="0" err="1"/>
              <a:t>promedio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préstamo</a:t>
            </a:r>
            <a:r>
              <a:rPr lang="en-US" sz="1600" dirty="0"/>
              <a:t> de </a:t>
            </a:r>
            <a:r>
              <a:rPr lang="en-US" sz="1600" dirty="0" err="1"/>
              <a:t>bicicletas</a:t>
            </a:r>
            <a:r>
              <a:rPr lang="en-US" sz="1600" dirty="0"/>
              <a:t> </a:t>
            </a:r>
            <a:r>
              <a:rPr lang="en-US" sz="1600" dirty="0" err="1"/>
              <a:t>durante</a:t>
            </a:r>
            <a:r>
              <a:rPr lang="en-US" sz="1600" dirty="0"/>
              <a:t> la Semana Santa.</a:t>
            </a:r>
          </a:p>
        </p:txBody>
      </p:sp>
    </p:spTree>
    <p:extLst>
      <p:ext uri="{BB962C8B-B14F-4D97-AF65-F5344CB8AC3E}">
        <p14:creationId xmlns:p14="http://schemas.microsoft.com/office/powerpoint/2010/main" val="1925783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56BE5-97D8-CCCC-3F24-0AC11A820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Conclusiones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7CDDB-12B6-8409-FF77-AE22AEF5D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s-GT" noProof="0" dirty="0"/>
              <a:t>Durante la Semana Santa, se hacen menos retiros desde el Jueves Santo a Domingo de </a:t>
            </a:r>
            <a:r>
              <a:rPr lang="es-GT" noProof="0" dirty="0" err="1"/>
              <a:t>Resurección</a:t>
            </a:r>
            <a:r>
              <a:rPr lang="es-GT" noProof="0" dirty="0"/>
              <a:t> que en el resto de la semana.</a:t>
            </a:r>
          </a:p>
          <a:p>
            <a:pPr algn="just"/>
            <a:r>
              <a:rPr lang="es-GT" noProof="0" dirty="0"/>
              <a:t>Se tiene que el préstamo de bicicletas ha sido en los años siguientes a la pandemia, que en los años anteriores a la misma.</a:t>
            </a:r>
          </a:p>
          <a:p>
            <a:pPr algn="just"/>
            <a:r>
              <a:rPr lang="es-GT" noProof="0" dirty="0"/>
              <a:t>Las estaciones más cercanas al centro del mapa son las que mayor frecuencia de préstamos y recepción</a:t>
            </a:r>
            <a:r>
              <a:rPr lang="es-GT" dirty="0"/>
              <a:t> de bicicletas tienen.</a:t>
            </a:r>
          </a:p>
          <a:p>
            <a:pPr algn="just"/>
            <a:r>
              <a:rPr lang="es-GT" noProof="0" dirty="0"/>
              <a:t>La estación que más recibe y pre</a:t>
            </a:r>
            <a:r>
              <a:rPr lang="es-GT" dirty="0" err="1"/>
              <a:t>sta</a:t>
            </a:r>
            <a:r>
              <a:rPr lang="es-GT" dirty="0"/>
              <a:t> bicicletas es </a:t>
            </a:r>
            <a:r>
              <a:rPr lang="es-ES" dirty="0"/>
              <a:t>CE-271-272 Jesús García - Carlos J. Meneses.</a:t>
            </a:r>
            <a:endParaRPr lang="es-GT" noProof="0" dirty="0"/>
          </a:p>
        </p:txBody>
      </p:sp>
    </p:spTree>
    <p:extLst>
      <p:ext uri="{BB962C8B-B14F-4D97-AF65-F5344CB8AC3E}">
        <p14:creationId xmlns:p14="http://schemas.microsoft.com/office/powerpoint/2010/main" val="3399263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76D5-C4F4-03CA-6137-3167E4F09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Referencias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557C2-1B29-775E-AE05-574ABC77B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OpenAI</a:t>
            </a:r>
            <a:r>
              <a:rPr lang="es-ES" dirty="0"/>
              <a:t>. (10 de abril de 2026). </a:t>
            </a:r>
            <a:r>
              <a:rPr lang="es-ES" i="1" dirty="0"/>
              <a:t>Ayuda con código de mapa de Calor de ECOBICI.</a:t>
            </a:r>
            <a:r>
              <a:rPr lang="es-ES" dirty="0"/>
              <a:t> [Chat con IA generativa]. </a:t>
            </a:r>
            <a:r>
              <a:rPr lang="es-ES" dirty="0" err="1"/>
              <a:t>ChatGPT</a:t>
            </a:r>
            <a:r>
              <a:rPr lang="es-E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3139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448</Words>
  <Application>Microsoft Office PowerPoint</Application>
  <PresentationFormat>Panorámica</PresentationFormat>
  <Paragraphs>35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Tema de Office</vt:lpstr>
      <vt:lpstr>Proyecto 1 Seminario 2</vt:lpstr>
      <vt:lpstr>Preguntas de investigación</vt:lpstr>
      <vt:lpstr>Descripción de los datos</vt:lpstr>
      <vt:lpstr>Mapa de calor de estaciones de retiro</vt:lpstr>
      <vt:lpstr>Mapa de calor de estaciones de arribo</vt:lpstr>
      <vt:lpstr>Top 10 estaciones que más prestan bicicletas</vt:lpstr>
      <vt:lpstr>Top 10 estaciones que más reciben bicicletas</vt:lpstr>
      <vt:lpstr>Visualización de los datos</vt:lpstr>
      <vt:lpstr>Influencia de la pandemia en el uso de bicicletas</vt:lpstr>
      <vt:lpstr>Préstamos de bicicletas durante la semana</vt:lpstr>
      <vt:lpstr>Conclusiones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RODRIGUEZ RODRIGUEZ, JOSE RICARDO</cp:lastModifiedBy>
  <cp:revision>186</cp:revision>
  <dcterms:created xsi:type="dcterms:W3CDTF">2026-04-15T19:02:49Z</dcterms:created>
  <dcterms:modified xsi:type="dcterms:W3CDTF">2026-04-17T01:28:48Z</dcterms:modified>
</cp:coreProperties>
</file>