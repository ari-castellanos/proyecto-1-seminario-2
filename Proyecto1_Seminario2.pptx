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66" r:id="rId6"/>
    <p:sldId id="261" r:id="rId7"/>
    <p:sldId id="263" r:id="rId8"/>
    <p:sldId id="265" r:id="rId9"/>
    <p:sldId id="267" r:id="rId10"/>
    <p:sldId id="260" r:id="rId11"/>
    <p:sldId id="262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C371C5-C818-BDBD-7521-303D212469CB}" v="1234" dt="2026-04-15T19:53:08.2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20" autoAdjust="0"/>
    <p:restoredTop sz="94660"/>
  </p:normalViewPr>
  <p:slideViewPr>
    <p:cSldViewPr snapToGrid="0">
      <p:cViewPr varScale="1">
        <p:scale>
          <a:sx n="82" d="100"/>
          <a:sy n="82" d="100"/>
        </p:scale>
        <p:origin x="53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88191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81744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39700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79029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52394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0658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2375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0449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603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41863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15096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771E8B-6CA5-40B2-8038-0E112F3DAC1C}" type="datetimeFigureOut">
              <a:rPr lang="es-ES" smtClean="0"/>
              <a:t>17/04/2026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1556C4-DFC3-4611-A7CC-780699185E26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3311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ecobici.cdmx.gob.mx/datos-abiertos/" TargetMode="External"/><Relationship Id="rId2" Type="http://schemas.openxmlformats.org/officeDocument/2006/relationships/hyperlink" Target="https://www.gob.mx/profedet/articulos/los-dias-de-semana-santa-2025-son-dias-de-descanso-obligatorio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/>
              <a:t>Proyecto 1 Seminario 2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Ricardo Rodríguez 18907</a:t>
            </a:r>
          </a:p>
          <a:p>
            <a:r>
              <a:rPr lang="es-ES"/>
              <a:t>Ian Castellanos 22128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0627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81BC3-D3E5-BF85-1689-0DB736917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Preguntas</a:t>
            </a:r>
            <a:r>
              <a:rPr lang="en-US" dirty="0"/>
              <a:t> de </a:t>
            </a:r>
            <a:r>
              <a:rPr lang="en-US" dirty="0" err="1"/>
              <a:t>investigación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CF7AA-D9BE-D440-F244-2E2A07114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2898"/>
            <a:ext cx="10515600" cy="4684065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Cómo</a:t>
            </a:r>
            <a:r>
              <a:rPr lang="en-US" dirty="0"/>
              <a:t> se </a:t>
            </a:r>
            <a:r>
              <a:rPr lang="en-US" dirty="0" err="1"/>
              <a:t>vio</a:t>
            </a:r>
            <a:r>
              <a:rPr lang="en-US" dirty="0"/>
              <a:t> </a:t>
            </a:r>
            <a:r>
              <a:rPr lang="en-US" dirty="0" err="1"/>
              <a:t>afectado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uso</a:t>
            </a:r>
            <a:r>
              <a:rPr lang="en-US" dirty="0"/>
              <a:t> de </a:t>
            </a:r>
            <a:r>
              <a:rPr lang="en-US" dirty="0" err="1"/>
              <a:t>biciletas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 </a:t>
            </a:r>
            <a:r>
              <a:rPr lang="en-US" dirty="0" err="1"/>
              <a:t>época</a:t>
            </a:r>
            <a:r>
              <a:rPr lang="en-US" dirty="0"/>
              <a:t> del COVID-19?</a:t>
            </a:r>
          </a:p>
          <a:p>
            <a:pPr marL="514350" indent="-514350">
              <a:buAutoNum type="arabicPeriod"/>
            </a:pPr>
            <a:r>
              <a:rPr lang="en-US" dirty="0"/>
              <a:t>¿Es possible </a:t>
            </a:r>
            <a:r>
              <a:rPr lang="en-US" dirty="0" err="1"/>
              <a:t>hacer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diferenciación</a:t>
            </a:r>
            <a:r>
              <a:rPr lang="en-US" dirty="0"/>
              <a:t> </a:t>
            </a:r>
            <a:r>
              <a:rPr lang="en-US" dirty="0" err="1"/>
              <a:t>evidente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días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hubo</a:t>
            </a:r>
            <a:r>
              <a:rPr lang="en-US" dirty="0"/>
              <a:t> </a:t>
            </a:r>
            <a:r>
              <a:rPr lang="en-US" dirty="0" err="1"/>
              <a:t>mayores</a:t>
            </a:r>
            <a:r>
              <a:rPr lang="en-US" dirty="0"/>
              <a:t> </a:t>
            </a:r>
            <a:r>
              <a:rPr lang="en-US" dirty="0" err="1"/>
              <a:t>retiros</a:t>
            </a:r>
            <a:r>
              <a:rPr lang="en-US" dirty="0"/>
              <a:t> de </a:t>
            </a:r>
            <a:r>
              <a:rPr lang="en-US" dirty="0" err="1"/>
              <a:t>aquellos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hubo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o </a:t>
            </a:r>
            <a:r>
              <a:rPr lang="en-US" dirty="0" err="1"/>
              <a:t>todos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días hay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cantidad</a:t>
            </a:r>
            <a:r>
              <a:rPr lang="en-US" dirty="0"/>
              <a:t> de </a:t>
            </a:r>
            <a:r>
              <a:rPr lang="en-US" dirty="0" err="1"/>
              <a:t>retiros</a:t>
            </a:r>
            <a:r>
              <a:rPr lang="en-US" dirty="0"/>
              <a:t> </a:t>
            </a:r>
            <a:r>
              <a:rPr lang="en-US" dirty="0" err="1"/>
              <a:t>parecida</a:t>
            </a:r>
            <a:r>
              <a:rPr lang="en-US" dirty="0"/>
              <a:t>?</a:t>
            </a:r>
          </a:p>
          <a:p>
            <a:pPr marL="514350" indent="-514350">
              <a:buAutoNum type="arabicPeriod"/>
            </a:pPr>
            <a:r>
              <a:rPr lang="en-US" dirty="0"/>
              <a:t>Si es possible </a:t>
            </a:r>
            <a:r>
              <a:rPr lang="en-US" dirty="0" err="1"/>
              <a:t>separar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días de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retiros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de </a:t>
            </a:r>
            <a:r>
              <a:rPr lang="en-US" dirty="0" err="1"/>
              <a:t>menor</a:t>
            </a:r>
            <a:r>
              <a:rPr lang="en-US" dirty="0"/>
              <a:t> </a:t>
            </a:r>
            <a:r>
              <a:rPr lang="en-US" dirty="0" err="1"/>
              <a:t>retiros</a:t>
            </a:r>
            <a:r>
              <a:rPr lang="en-US" dirty="0"/>
              <a:t>, ¿</a:t>
            </a:r>
            <a:r>
              <a:rPr lang="en-US" dirty="0" err="1"/>
              <a:t>Cuáles</a:t>
            </a:r>
            <a:r>
              <a:rPr lang="en-US" dirty="0"/>
              <a:t> días son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se </a:t>
            </a:r>
            <a:r>
              <a:rPr lang="en-US" dirty="0" err="1"/>
              <a:t>prestan</a:t>
            </a:r>
            <a:r>
              <a:rPr lang="en-US" dirty="0"/>
              <a:t> 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bicicletas</a:t>
            </a:r>
            <a:r>
              <a:rPr lang="en-US" dirty="0"/>
              <a:t> </a:t>
            </a:r>
            <a:r>
              <a:rPr lang="en-US" dirty="0" err="1"/>
              <a:t>durante</a:t>
            </a:r>
            <a:r>
              <a:rPr lang="en-US" dirty="0"/>
              <a:t> Semana Santa?</a:t>
            </a:r>
          </a:p>
          <a:p>
            <a:pPr marL="514350" indent="-514350">
              <a:buAutoNum type="arabicPeriod"/>
            </a:pPr>
            <a:r>
              <a:rPr lang="en-US" dirty="0"/>
              <a:t>¿Las </a:t>
            </a:r>
            <a:r>
              <a:rPr lang="en-US" dirty="0" err="1"/>
              <a:t>frecuencias</a:t>
            </a:r>
            <a:r>
              <a:rPr lang="en-US" dirty="0"/>
              <a:t> de </a:t>
            </a:r>
            <a:r>
              <a:rPr lang="en-US" dirty="0" err="1"/>
              <a:t>arribo</a:t>
            </a:r>
            <a:r>
              <a:rPr lang="en-US" dirty="0"/>
              <a:t> y </a:t>
            </a:r>
            <a:r>
              <a:rPr lang="en-US" dirty="0" err="1"/>
              <a:t>retiro</a:t>
            </a:r>
            <a:r>
              <a:rPr lang="en-US" dirty="0"/>
              <a:t> </a:t>
            </a:r>
            <a:r>
              <a:rPr lang="en-US" dirty="0" err="1"/>
              <a:t>serán</a:t>
            </a:r>
            <a:r>
              <a:rPr lang="en-US" dirty="0"/>
              <a:t> </a:t>
            </a:r>
            <a:r>
              <a:rPr lang="en-US" dirty="0" err="1"/>
              <a:t>mayores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centro</a:t>
            </a:r>
            <a:r>
              <a:rPr lang="en-US" dirty="0"/>
              <a:t> del </a:t>
            </a:r>
            <a:r>
              <a:rPr lang="en-US" dirty="0" err="1"/>
              <a:t>mapa</a:t>
            </a:r>
            <a:r>
              <a:rPr lang="en-US" dirty="0"/>
              <a:t> de </a:t>
            </a:r>
            <a:r>
              <a:rPr lang="en-US" dirty="0" err="1"/>
              <a:t>estaciones</a:t>
            </a:r>
            <a:r>
              <a:rPr lang="en-US" dirty="0"/>
              <a:t> de ECOBICI?</a:t>
            </a:r>
          </a:p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Cuáles</a:t>
            </a:r>
            <a:r>
              <a:rPr lang="en-US" dirty="0"/>
              <a:t> son las </a:t>
            </a:r>
            <a:r>
              <a:rPr lang="en-US" dirty="0" err="1"/>
              <a:t>estaciones</a:t>
            </a:r>
            <a:r>
              <a:rPr lang="en-US" dirty="0"/>
              <a:t> </a:t>
            </a:r>
            <a:r>
              <a:rPr lang="en-US" dirty="0" err="1"/>
              <a:t>en</a:t>
            </a:r>
            <a:r>
              <a:rPr lang="en-US" dirty="0"/>
              <a:t> las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se </a:t>
            </a:r>
            <a:r>
              <a:rPr lang="en-US" dirty="0" err="1"/>
              <a:t>prestan</a:t>
            </a:r>
            <a:r>
              <a:rPr lang="en-US" dirty="0"/>
              <a:t> </a:t>
            </a:r>
            <a:r>
              <a:rPr lang="en-US" dirty="0" err="1"/>
              <a:t>bicicletas</a:t>
            </a:r>
            <a:r>
              <a:rPr lang="en-US" dirty="0"/>
              <a:t>?</a:t>
            </a:r>
          </a:p>
          <a:p>
            <a:pPr marL="514350" indent="-514350">
              <a:buAutoNum type="arabicPeriod"/>
            </a:pPr>
            <a:r>
              <a:rPr lang="en-US" dirty="0"/>
              <a:t>¿</a:t>
            </a:r>
            <a:r>
              <a:rPr lang="en-US" dirty="0" err="1"/>
              <a:t>Cuáles</a:t>
            </a:r>
            <a:r>
              <a:rPr lang="en-US" dirty="0"/>
              <a:t> son las </a:t>
            </a:r>
            <a:r>
              <a:rPr lang="en-US" dirty="0" err="1"/>
              <a:t>estaciones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la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más</a:t>
            </a:r>
            <a:r>
              <a:rPr lang="en-US" dirty="0"/>
              <a:t> </a:t>
            </a:r>
            <a:r>
              <a:rPr lang="en-US" dirty="0" err="1"/>
              <a:t>dejan</a:t>
            </a:r>
            <a:r>
              <a:rPr lang="en-US" dirty="0"/>
              <a:t> </a:t>
            </a:r>
            <a:r>
              <a:rPr lang="en-US" dirty="0" err="1"/>
              <a:t>bicicletas</a:t>
            </a:r>
            <a:r>
              <a:rPr lang="en-US" dirty="0"/>
              <a:t>?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dirty="0"/>
              <a:t>¿Es </a:t>
            </a:r>
            <a:r>
              <a:rPr lang="en-US" dirty="0" err="1"/>
              <a:t>posible</a:t>
            </a:r>
            <a:r>
              <a:rPr lang="en-US" dirty="0"/>
              <a:t> </a:t>
            </a:r>
            <a:r>
              <a:rPr lang="en-US" dirty="0" err="1"/>
              <a:t>categorizar</a:t>
            </a:r>
            <a:r>
              <a:rPr lang="en-US" dirty="0"/>
              <a:t> la </a:t>
            </a:r>
            <a:r>
              <a:rPr lang="en-US" dirty="0" err="1"/>
              <a:t>época</a:t>
            </a:r>
            <a:r>
              <a:rPr lang="en-US" dirty="0"/>
              <a:t> post pandemia a </a:t>
            </a:r>
            <a:r>
              <a:rPr lang="en-US" dirty="0" err="1"/>
              <a:t>partir</a:t>
            </a:r>
            <a:r>
              <a:rPr lang="en-US" dirty="0"/>
              <a:t> de la </a:t>
            </a:r>
            <a:r>
              <a:rPr lang="en-US" dirty="0" err="1"/>
              <a:t>cantidad</a:t>
            </a:r>
            <a:r>
              <a:rPr lang="en-US" dirty="0"/>
              <a:t> de </a:t>
            </a:r>
            <a:r>
              <a:rPr lang="en-US" dirty="0" err="1"/>
              <a:t>viajes</a:t>
            </a:r>
            <a:r>
              <a:rPr lang="en-US" dirty="0"/>
              <a:t> y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tipo</a:t>
            </a:r>
            <a:r>
              <a:rPr lang="en-US" dirty="0"/>
              <a:t> de día? 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/>
          </a:p>
          <a:p>
            <a:pPr marL="514350" indent="-51435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810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CA0D9-E23A-434F-85BE-7CE0C7994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Descripción</a:t>
            </a:r>
            <a:r>
              <a:rPr lang="en-US" dirty="0"/>
              <a:t> de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D1742-1A0E-6DDB-549A-CBC319F33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Se </a:t>
            </a:r>
            <a:r>
              <a:rPr lang="en-US" dirty="0" err="1"/>
              <a:t>han</a:t>
            </a:r>
            <a:r>
              <a:rPr lang="en-US" dirty="0"/>
              <a:t> </a:t>
            </a:r>
            <a:r>
              <a:rPr lang="en-US" dirty="0" err="1"/>
              <a:t>usado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históricos</a:t>
            </a:r>
            <a:r>
              <a:rPr lang="en-US" dirty="0"/>
              <a:t> de ECOBICI </a:t>
            </a:r>
            <a:r>
              <a:rPr lang="en-US" dirty="0" err="1"/>
              <a:t>correspondientes</a:t>
            </a:r>
            <a:r>
              <a:rPr lang="en-US" dirty="0"/>
              <a:t> a la Semana Santa </a:t>
            </a:r>
            <a:r>
              <a:rPr lang="en-US" dirty="0" err="1"/>
              <a:t>desde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2015 al 2025.</a:t>
            </a:r>
          </a:p>
          <a:p>
            <a:r>
              <a:rPr lang="en-US" dirty="0"/>
              <a:t>Las variables </a:t>
            </a:r>
            <a:r>
              <a:rPr lang="en-US" dirty="0" err="1"/>
              <a:t>consideradas</a:t>
            </a:r>
            <a:r>
              <a:rPr lang="en-US" dirty="0"/>
              <a:t> para </a:t>
            </a:r>
            <a:r>
              <a:rPr lang="en-US" dirty="0" err="1"/>
              <a:t>el</a:t>
            </a:r>
            <a:r>
              <a:rPr lang="en-US" dirty="0"/>
              <a:t> </a:t>
            </a:r>
            <a:r>
              <a:rPr lang="en-US" dirty="0" err="1"/>
              <a:t>análisis</a:t>
            </a:r>
            <a:r>
              <a:rPr lang="en-US" dirty="0"/>
              <a:t> </a:t>
            </a:r>
            <a:r>
              <a:rPr lang="en-US" dirty="0" err="1"/>
              <a:t>fueron</a:t>
            </a:r>
            <a:r>
              <a:rPr lang="en-US" dirty="0"/>
              <a:t>: </a:t>
            </a:r>
            <a:r>
              <a:rPr lang="en-US" dirty="0" err="1"/>
              <a:t>Fecha</a:t>
            </a:r>
            <a:r>
              <a:rPr lang="en-US" dirty="0"/>
              <a:t> de </a:t>
            </a:r>
            <a:r>
              <a:rPr lang="en-US" dirty="0" err="1"/>
              <a:t>retiro</a:t>
            </a:r>
            <a:r>
              <a:rPr lang="en-US" dirty="0"/>
              <a:t> de </a:t>
            </a:r>
            <a:r>
              <a:rPr lang="en-US" dirty="0" err="1"/>
              <a:t>bicicletas</a:t>
            </a:r>
            <a:r>
              <a:rPr lang="en-US" dirty="0"/>
              <a:t>, </a:t>
            </a:r>
            <a:r>
              <a:rPr lang="en-US" dirty="0" err="1"/>
              <a:t>fecha</a:t>
            </a:r>
            <a:r>
              <a:rPr lang="en-US" dirty="0"/>
              <a:t> de </a:t>
            </a:r>
            <a:r>
              <a:rPr lang="en-US" dirty="0" err="1"/>
              <a:t>arribo</a:t>
            </a:r>
            <a:r>
              <a:rPr lang="en-US" dirty="0"/>
              <a:t> de la </a:t>
            </a:r>
            <a:r>
              <a:rPr lang="en-US" dirty="0" err="1"/>
              <a:t>bicicleta</a:t>
            </a:r>
            <a:r>
              <a:rPr lang="en-US" dirty="0"/>
              <a:t>, </a:t>
            </a:r>
            <a:r>
              <a:rPr lang="en-US" dirty="0" err="1"/>
              <a:t>nombre</a:t>
            </a:r>
            <a:r>
              <a:rPr lang="en-US" dirty="0"/>
              <a:t> de </a:t>
            </a:r>
            <a:r>
              <a:rPr lang="en-US" dirty="0" err="1"/>
              <a:t>estación</a:t>
            </a:r>
            <a:r>
              <a:rPr lang="en-US" dirty="0"/>
              <a:t>, </a:t>
            </a:r>
            <a:r>
              <a:rPr lang="en-US" dirty="0" err="1"/>
              <a:t>coordenadas</a:t>
            </a:r>
            <a:r>
              <a:rPr lang="en-US" dirty="0"/>
              <a:t> de la </a:t>
            </a:r>
            <a:r>
              <a:rPr lang="en-US" dirty="0" err="1"/>
              <a:t>estación</a:t>
            </a:r>
            <a:endParaRPr lang="en-US" dirty="0"/>
          </a:p>
          <a:p>
            <a:r>
              <a:rPr lang="en-US" dirty="0"/>
              <a:t>Los </a:t>
            </a:r>
            <a:r>
              <a:rPr lang="en-US" dirty="0" err="1"/>
              <a:t>datos</a:t>
            </a:r>
            <a:r>
              <a:rPr lang="en-US" dirty="0"/>
              <a:t> no </a:t>
            </a:r>
            <a:r>
              <a:rPr lang="en-US" dirty="0" err="1"/>
              <a:t>contaban</a:t>
            </a:r>
            <a:r>
              <a:rPr lang="en-US" dirty="0"/>
              <a:t> con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32834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7B8F08-64E1-BDCA-745A-0D80ABE25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>
                <a:solidFill>
                  <a:srgbClr val="FFFFFF"/>
                </a:solidFill>
              </a:rPr>
              <a:t>Influencia de la pandemia en el uso de bicicletas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E15F4B84-8A57-CD3F-DD4D-A8F67E221A9E}"/>
              </a:ext>
            </a:extLst>
          </p:cNvPr>
          <p:cNvSpPr txBox="1"/>
          <p:nvPr/>
        </p:nvSpPr>
        <p:spPr>
          <a:xfrm>
            <a:off x="1306286" y="5431229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 err="1"/>
              <a:t>Figura</a:t>
            </a:r>
            <a:r>
              <a:rPr lang="en-US" sz="1400" b="1" dirty="0"/>
              <a:t> 1</a:t>
            </a:r>
            <a:r>
              <a:rPr lang="en-US" sz="1400" dirty="0"/>
              <a:t>. </a:t>
            </a:r>
            <a:r>
              <a:rPr lang="en-US" sz="1400" dirty="0" err="1"/>
              <a:t>Influencia</a:t>
            </a:r>
            <a:r>
              <a:rPr lang="en-US" sz="1400" dirty="0"/>
              <a:t> de la pandemia </a:t>
            </a:r>
            <a:r>
              <a:rPr lang="en-US" sz="1400" dirty="0" err="1"/>
              <a:t>en</a:t>
            </a:r>
            <a:r>
              <a:rPr lang="en-US" sz="1400" dirty="0"/>
              <a:t> </a:t>
            </a:r>
            <a:r>
              <a:rPr lang="en-US" sz="1400" dirty="0" err="1"/>
              <a:t>el</a:t>
            </a:r>
            <a:r>
              <a:rPr lang="en-US" sz="1400" dirty="0"/>
              <a:t> </a:t>
            </a:r>
            <a:r>
              <a:rPr lang="en-US" sz="1400" dirty="0" err="1"/>
              <a:t>préstamo</a:t>
            </a:r>
            <a:r>
              <a:rPr lang="en-US" sz="1400" dirty="0"/>
              <a:t> de </a:t>
            </a:r>
            <a:r>
              <a:rPr lang="en-US" sz="1400" dirty="0" err="1"/>
              <a:t>bicicletas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la Semana Santa de </a:t>
            </a:r>
            <a:r>
              <a:rPr lang="en-US" sz="1400" dirty="0" err="1"/>
              <a:t>los</a:t>
            </a:r>
            <a:r>
              <a:rPr lang="en-US" sz="1400" dirty="0"/>
              <a:t> </a:t>
            </a:r>
            <a:r>
              <a:rPr lang="en-US" sz="1400" dirty="0" err="1"/>
              <a:t>años</a:t>
            </a:r>
            <a:r>
              <a:rPr lang="en-US" sz="1400" dirty="0"/>
              <a:t> 2015-2025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01EC1150-20D1-2C04-2018-215E831AC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100" y="2377303"/>
            <a:ext cx="5929955" cy="3053926"/>
          </a:xfrm>
          <a:prstGeom prst="rect">
            <a:avLst/>
          </a:prstGeom>
        </p:spPr>
      </p:pic>
      <p:pic>
        <p:nvPicPr>
          <p:cNvPr id="3" name="Marcador de contenido 2">
            <a:extLst>
              <a:ext uri="{FF2B5EF4-FFF2-40B4-BE49-F238E27FC236}">
                <a16:creationId xmlns:a16="http://schemas.microsoft.com/office/drawing/2014/main" id="{C8A9C486-0991-237C-142C-FA0A064BEF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774611" y="1905350"/>
            <a:ext cx="1430894" cy="3997831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BF0CD938-E75F-A789-B89A-430304E64F95}"/>
              </a:ext>
            </a:extLst>
          </p:cNvPr>
          <p:cNvSpPr txBox="1"/>
          <p:nvPr/>
        </p:nvSpPr>
        <p:spPr>
          <a:xfrm>
            <a:off x="8016428" y="5776772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/>
              <a:t>Cuadro 1</a:t>
            </a:r>
            <a:r>
              <a:rPr lang="en-US" sz="1400" dirty="0"/>
              <a:t>. </a:t>
            </a:r>
            <a:r>
              <a:rPr lang="en-US" sz="1400" dirty="0" err="1"/>
              <a:t>Tabla</a:t>
            </a:r>
            <a:r>
              <a:rPr lang="en-US" sz="1400" dirty="0"/>
              <a:t> de la </a:t>
            </a:r>
            <a:r>
              <a:rPr lang="en-US" sz="1400" dirty="0" err="1"/>
              <a:t>cantidad</a:t>
            </a:r>
            <a:r>
              <a:rPr lang="en-US" sz="1400" dirty="0"/>
              <a:t> de </a:t>
            </a:r>
            <a:r>
              <a:rPr lang="en-US" sz="1400" dirty="0" err="1"/>
              <a:t>retiros</a:t>
            </a:r>
            <a:r>
              <a:rPr lang="en-US" sz="1400" dirty="0"/>
              <a:t> de </a:t>
            </a:r>
            <a:r>
              <a:rPr lang="en-US" sz="1400" dirty="0" err="1"/>
              <a:t>bicicletas</a:t>
            </a:r>
            <a:r>
              <a:rPr lang="en-US" sz="1400" dirty="0"/>
              <a:t> total </a:t>
            </a:r>
            <a:r>
              <a:rPr lang="en-US" sz="1400" dirty="0" err="1"/>
              <a:t>durante</a:t>
            </a:r>
            <a:r>
              <a:rPr lang="en-US" sz="1400" dirty="0"/>
              <a:t> Semana Santa.</a:t>
            </a:r>
          </a:p>
        </p:txBody>
      </p:sp>
    </p:spTree>
    <p:extLst>
      <p:ext uri="{BB962C8B-B14F-4D97-AF65-F5344CB8AC3E}">
        <p14:creationId xmlns:p14="http://schemas.microsoft.com/office/powerpoint/2010/main" val="3910698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5DFBC4-93ED-BC0A-AFF0-AD661E51E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774809" cy="1719072"/>
          </a:xfrm>
        </p:spPr>
        <p:txBody>
          <a:bodyPr anchor="b">
            <a:normAutofit fontScale="90000"/>
          </a:bodyPr>
          <a:lstStyle/>
          <a:p>
            <a:r>
              <a:rPr lang="es-GT" sz="5400" dirty="0"/>
              <a:t>PCA de retiros promedio 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E8BDAF8-EDB7-3234-2EA0-CCD9F65728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en-US" sz="2200" dirty="0"/>
              <a:t>En </a:t>
            </a:r>
            <a:r>
              <a:rPr lang="en-US" sz="2200" dirty="0" err="1"/>
              <a:t>el</a:t>
            </a:r>
            <a:r>
              <a:rPr lang="en-US" sz="2200" dirty="0"/>
              <a:t> </a:t>
            </a:r>
            <a:r>
              <a:rPr lang="en-US" sz="2200" dirty="0" err="1"/>
              <a:t>gráfico</a:t>
            </a:r>
            <a:r>
              <a:rPr lang="en-US" sz="2200" dirty="0"/>
              <a:t> se </a:t>
            </a:r>
            <a:r>
              <a:rPr lang="en-US" sz="2200" dirty="0" err="1"/>
              <a:t>tienen</a:t>
            </a:r>
            <a:r>
              <a:rPr lang="en-US" sz="2200" dirty="0"/>
              <a:t> </a:t>
            </a:r>
            <a:r>
              <a:rPr lang="en-US" sz="2200" dirty="0" err="1"/>
              <a:t>los</a:t>
            </a:r>
            <a:r>
              <a:rPr lang="en-US" sz="2200" dirty="0"/>
              <a:t> </a:t>
            </a:r>
            <a:r>
              <a:rPr lang="en-US" sz="2200" dirty="0" err="1"/>
              <a:t>retiros</a:t>
            </a:r>
            <a:r>
              <a:rPr lang="en-US" sz="2200" dirty="0"/>
              <a:t> </a:t>
            </a:r>
            <a:r>
              <a:rPr lang="en-US" sz="2200" dirty="0" err="1"/>
              <a:t>promedio</a:t>
            </a:r>
            <a:r>
              <a:rPr lang="en-US" sz="2200" dirty="0"/>
              <a:t> </a:t>
            </a:r>
            <a:r>
              <a:rPr lang="en-US" sz="2200" dirty="0" err="1"/>
              <a:t>por</a:t>
            </a:r>
            <a:r>
              <a:rPr lang="en-US" sz="2200" dirty="0"/>
              <a:t> día de la </a:t>
            </a:r>
            <a:r>
              <a:rPr lang="en-US" sz="2200" dirty="0" err="1"/>
              <a:t>semana</a:t>
            </a:r>
            <a:endParaRPr lang="en-US" sz="2200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255E5A5E-A1A9-6953-D01F-91D9C89413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745179"/>
            <a:ext cx="6903720" cy="5367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643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85D9FD-4EA7-988D-B7B1-75994B58F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0101C2-4733-925E-AF79-6E887E439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989716" cy="1719072"/>
          </a:xfrm>
        </p:spPr>
        <p:txBody>
          <a:bodyPr anchor="b">
            <a:normAutofit/>
          </a:bodyPr>
          <a:lstStyle/>
          <a:p>
            <a:r>
              <a:rPr lang="en-US" sz="3800" dirty="0" err="1"/>
              <a:t>Préstamos</a:t>
            </a:r>
            <a:r>
              <a:rPr lang="en-US" sz="3800" dirty="0"/>
              <a:t> de </a:t>
            </a:r>
            <a:r>
              <a:rPr lang="en-US" sz="3800" dirty="0" err="1"/>
              <a:t>bicicletas</a:t>
            </a:r>
            <a:r>
              <a:rPr lang="en-US" sz="3800" dirty="0"/>
              <a:t> </a:t>
            </a:r>
            <a:r>
              <a:rPr lang="en-US" sz="3800" dirty="0" err="1"/>
              <a:t>durante</a:t>
            </a:r>
            <a:r>
              <a:rPr lang="en-US" sz="3800" dirty="0"/>
              <a:t> la </a:t>
            </a:r>
            <a:r>
              <a:rPr lang="en-US" sz="3800" dirty="0" err="1"/>
              <a:t>semana</a:t>
            </a: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6703EC-F08B-D6CA-C596-B3E79CD94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1625403"/>
            <a:ext cx="6903720" cy="3607193"/>
          </a:xfrm>
          <a:prstGeom prst="rect">
            <a:avLst/>
          </a:prstGeom>
        </p:spPr>
      </p:pic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AFB50825-FE3F-86E0-36A8-AE17B86DF2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122" y="3016400"/>
            <a:ext cx="3044806" cy="2662030"/>
          </a:xfrm>
          <a:prstGeom prst="rect">
            <a:avLst/>
          </a:prstGeom>
        </p:spPr>
      </p:pic>
      <p:sp>
        <p:nvSpPr>
          <p:cNvPr id="6" name="TextBox 4">
            <a:extLst>
              <a:ext uri="{FF2B5EF4-FFF2-40B4-BE49-F238E27FC236}">
                <a16:creationId xmlns:a16="http://schemas.microsoft.com/office/drawing/2014/main" id="{B9C9D231-BA5F-2DAD-31C9-238F06EC0339}"/>
              </a:ext>
            </a:extLst>
          </p:cNvPr>
          <p:cNvSpPr txBox="1"/>
          <p:nvPr/>
        </p:nvSpPr>
        <p:spPr>
          <a:xfrm>
            <a:off x="6354148" y="5232596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 err="1"/>
              <a:t>Figura</a:t>
            </a:r>
            <a:r>
              <a:rPr lang="en-US" sz="1400" b="1" dirty="0"/>
              <a:t> 2</a:t>
            </a:r>
            <a:r>
              <a:rPr lang="en-US" sz="1400" dirty="0"/>
              <a:t>. </a:t>
            </a:r>
            <a:r>
              <a:rPr lang="en-US" sz="1400" dirty="0" err="1"/>
              <a:t>Patrón</a:t>
            </a:r>
            <a:r>
              <a:rPr lang="en-US" sz="1400" dirty="0"/>
              <a:t> de </a:t>
            </a:r>
            <a:r>
              <a:rPr lang="en-US" sz="1400" dirty="0" err="1"/>
              <a:t>retiros</a:t>
            </a:r>
            <a:r>
              <a:rPr lang="en-US" sz="1400" dirty="0"/>
              <a:t> </a:t>
            </a:r>
            <a:r>
              <a:rPr lang="en-US" sz="1400" dirty="0" err="1"/>
              <a:t>promedio</a:t>
            </a:r>
            <a:r>
              <a:rPr lang="en-US" sz="1400" dirty="0"/>
              <a:t> de </a:t>
            </a:r>
            <a:r>
              <a:rPr lang="en-US" sz="1400" dirty="0" err="1"/>
              <a:t>bicicletas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Ciudad de México </a:t>
            </a:r>
            <a:r>
              <a:rPr lang="en-US" sz="1400" dirty="0" err="1"/>
              <a:t>durante</a:t>
            </a:r>
            <a:r>
              <a:rPr lang="en-US" sz="1400" dirty="0"/>
              <a:t> la Semana Santa</a:t>
            </a: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1B0FABF0-8A63-602B-4327-338A1A1FBF0C}"/>
              </a:ext>
            </a:extLst>
          </p:cNvPr>
          <p:cNvSpPr txBox="1"/>
          <p:nvPr/>
        </p:nvSpPr>
        <p:spPr>
          <a:xfrm>
            <a:off x="793102" y="5656952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/>
              <a:t>Cuadro 2</a:t>
            </a:r>
            <a:r>
              <a:rPr lang="en-US" sz="1400" dirty="0"/>
              <a:t>. </a:t>
            </a:r>
            <a:r>
              <a:rPr lang="es-GT" sz="1400" dirty="0"/>
              <a:t>Tabla de los días de la Semana Santa con mayores retiros de bicicletas en Ciudad de México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925783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6A3000-7648-F4A8-FD09-38C894BED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400">
                <a:solidFill>
                  <a:srgbClr val="FFFFFF"/>
                </a:solidFill>
              </a:rPr>
              <a:t>Mapa de calor de estaciones de retiro</a:t>
            </a:r>
          </a:p>
        </p:txBody>
      </p:sp>
      <p:pic>
        <p:nvPicPr>
          <p:cNvPr id="3" name="Marcador de contenido 2">
            <a:extLst>
              <a:ext uri="{FF2B5EF4-FFF2-40B4-BE49-F238E27FC236}">
                <a16:creationId xmlns:a16="http://schemas.microsoft.com/office/drawing/2014/main" id="{8201D0B7-B6C2-CBD4-BBE7-5FF280F75B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912" y="2181328"/>
            <a:ext cx="5131088" cy="3514795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D767D5-403E-EC3A-D888-C55A5FFC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10" r="2" b="2"/>
          <a:stretch>
            <a:fillRect/>
          </a:stretch>
        </p:blipFill>
        <p:spPr>
          <a:xfrm>
            <a:off x="8502272" y="1796172"/>
            <a:ext cx="2534957" cy="3997831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351BC7B9-9BF1-148C-6D7A-2939E8524A4B}"/>
              </a:ext>
            </a:extLst>
          </p:cNvPr>
          <p:cNvSpPr txBox="1"/>
          <p:nvPr/>
        </p:nvSpPr>
        <p:spPr>
          <a:xfrm>
            <a:off x="7791014" y="5794003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 err="1"/>
              <a:t>Figura</a:t>
            </a:r>
            <a:r>
              <a:rPr lang="en-US" sz="1400" b="1" dirty="0"/>
              <a:t> 3</a:t>
            </a:r>
            <a:r>
              <a:rPr lang="en-US" sz="1400" dirty="0"/>
              <a:t>. Mapa de </a:t>
            </a:r>
            <a:r>
              <a:rPr lang="en-US" sz="1400" dirty="0" err="1"/>
              <a:t>calor</a:t>
            </a:r>
            <a:r>
              <a:rPr lang="en-US" sz="1400" dirty="0"/>
              <a:t> de </a:t>
            </a:r>
            <a:r>
              <a:rPr lang="en-US" sz="1400" dirty="0" err="1"/>
              <a:t>estaciones</a:t>
            </a:r>
            <a:r>
              <a:rPr lang="en-US" sz="1400" dirty="0"/>
              <a:t> de </a:t>
            </a:r>
            <a:r>
              <a:rPr lang="en-US" sz="1400" dirty="0" err="1"/>
              <a:t>retiro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Ciudad de México.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E3F74F53-31D3-2874-C032-73F104221758}"/>
              </a:ext>
            </a:extLst>
          </p:cNvPr>
          <p:cNvSpPr txBox="1"/>
          <p:nvPr/>
        </p:nvSpPr>
        <p:spPr>
          <a:xfrm>
            <a:off x="1296956" y="5674387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/>
              <a:t>Cuadro 3</a:t>
            </a:r>
            <a:r>
              <a:rPr lang="en-US" sz="1400" dirty="0"/>
              <a:t>. 10 </a:t>
            </a:r>
            <a:r>
              <a:rPr lang="en-US" sz="1400" dirty="0" err="1"/>
              <a:t>estaciones</a:t>
            </a:r>
            <a:r>
              <a:rPr lang="en-US" sz="1400" dirty="0"/>
              <a:t> con mayor </a:t>
            </a:r>
            <a:r>
              <a:rPr lang="en-US" sz="1400" dirty="0" err="1"/>
              <a:t>cantidad</a:t>
            </a:r>
            <a:r>
              <a:rPr lang="en-US" sz="1400" dirty="0"/>
              <a:t> de </a:t>
            </a:r>
            <a:r>
              <a:rPr lang="en-US" sz="1400" dirty="0" err="1"/>
              <a:t>retiros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99348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A6A5E8-C994-D282-49EF-2A7146DDD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F2C8913E-50D7-A16E-DFF4-509478BBB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0690EA5-F2B1-D984-E90F-F0376DD0E6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25B4B2A-CAD1-A46C-CE5A-CE33F0CDB9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0984913-92B8-86CB-AD56-A5AF34014A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F4ECEB9-06F0-7999-7836-533195574F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28A983-FBD4-0E1A-D2CA-04EED1B66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400" dirty="0">
                <a:solidFill>
                  <a:srgbClr val="FFFFFF"/>
                </a:solidFill>
              </a:rPr>
              <a:t>Mapa de </a:t>
            </a:r>
            <a:r>
              <a:rPr lang="en-US" sz="3400" dirty="0" err="1">
                <a:solidFill>
                  <a:srgbClr val="FFFFFF"/>
                </a:solidFill>
              </a:rPr>
              <a:t>calor</a:t>
            </a:r>
            <a:r>
              <a:rPr lang="en-US" sz="3400" dirty="0">
                <a:solidFill>
                  <a:srgbClr val="FFFFFF"/>
                </a:solidFill>
              </a:rPr>
              <a:t> de </a:t>
            </a:r>
            <a:r>
              <a:rPr lang="en-US" sz="3400" dirty="0" err="1">
                <a:solidFill>
                  <a:srgbClr val="FFFFFF"/>
                </a:solidFill>
              </a:rPr>
              <a:t>estaciones</a:t>
            </a:r>
            <a:r>
              <a:rPr lang="en-US" sz="3400" dirty="0">
                <a:solidFill>
                  <a:srgbClr val="FFFFFF"/>
                </a:solidFill>
              </a:rPr>
              <a:t> de </a:t>
            </a:r>
            <a:r>
              <a:rPr lang="en-US" sz="3400" dirty="0" err="1">
                <a:solidFill>
                  <a:srgbClr val="FFFFFF"/>
                </a:solidFill>
              </a:rPr>
              <a:t>arribo</a:t>
            </a:r>
            <a:endParaRPr lang="en-US" sz="3400" dirty="0">
              <a:solidFill>
                <a:srgbClr val="FFFFFF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268B393-4A59-C28C-70AA-64FB4CE7FA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2114" y="2030161"/>
            <a:ext cx="2395907" cy="3500514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03E81CE5-3C71-F632-1D77-77E22217C1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909" y="2099387"/>
            <a:ext cx="5553569" cy="3450361"/>
          </a:xfrm>
          <a:prstGeom prst="rect">
            <a:avLst/>
          </a:prstGeom>
        </p:spPr>
      </p:pic>
      <p:sp>
        <p:nvSpPr>
          <p:cNvPr id="9" name="TextBox 4">
            <a:extLst>
              <a:ext uri="{FF2B5EF4-FFF2-40B4-BE49-F238E27FC236}">
                <a16:creationId xmlns:a16="http://schemas.microsoft.com/office/drawing/2014/main" id="{B47209F1-9D3E-6FE9-EAFD-A182B1AB2659}"/>
              </a:ext>
            </a:extLst>
          </p:cNvPr>
          <p:cNvSpPr txBox="1"/>
          <p:nvPr/>
        </p:nvSpPr>
        <p:spPr>
          <a:xfrm>
            <a:off x="7716417" y="5549748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 err="1"/>
              <a:t>Figura</a:t>
            </a:r>
            <a:r>
              <a:rPr lang="en-US" sz="1400" b="1" dirty="0"/>
              <a:t> 4</a:t>
            </a:r>
            <a:r>
              <a:rPr lang="en-US" sz="1400" dirty="0"/>
              <a:t>. Mapa de </a:t>
            </a:r>
            <a:r>
              <a:rPr lang="en-US" sz="1400" dirty="0" err="1"/>
              <a:t>calor</a:t>
            </a:r>
            <a:r>
              <a:rPr lang="en-US" sz="1400" dirty="0"/>
              <a:t> de </a:t>
            </a:r>
            <a:r>
              <a:rPr lang="en-US" sz="1400" dirty="0" err="1"/>
              <a:t>estaciones</a:t>
            </a:r>
            <a:r>
              <a:rPr lang="en-US" sz="1400" dirty="0"/>
              <a:t> de </a:t>
            </a:r>
            <a:r>
              <a:rPr lang="en-US" sz="1400" dirty="0" err="1"/>
              <a:t>arribo</a:t>
            </a:r>
            <a:r>
              <a:rPr lang="en-US" sz="1400" dirty="0"/>
              <a:t> </a:t>
            </a:r>
            <a:r>
              <a:rPr lang="en-US" sz="1400" dirty="0" err="1"/>
              <a:t>en</a:t>
            </a:r>
            <a:r>
              <a:rPr lang="en-US" sz="1400" dirty="0"/>
              <a:t> Ciudad de México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C1F82835-069E-3EC9-013E-2FA95CFF5FCB}"/>
              </a:ext>
            </a:extLst>
          </p:cNvPr>
          <p:cNvSpPr txBox="1"/>
          <p:nvPr/>
        </p:nvSpPr>
        <p:spPr>
          <a:xfrm>
            <a:off x="1604866" y="5549748"/>
            <a:ext cx="4175572" cy="830453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400" b="1" dirty="0"/>
              <a:t>Cuadro 4</a:t>
            </a:r>
            <a:r>
              <a:rPr lang="en-US" sz="1400" dirty="0"/>
              <a:t>. 10 </a:t>
            </a:r>
            <a:r>
              <a:rPr lang="en-US" sz="1400" dirty="0" err="1"/>
              <a:t>estaciones</a:t>
            </a:r>
            <a:r>
              <a:rPr lang="en-US" sz="1400" dirty="0"/>
              <a:t> con mayor </a:t>
            </a:r>
            <a:r>
              <a:rPr lang="en-US" sz="1400" dirty="0" err="1"/>
              <a:t>cantidad</a:t>
            </a:r>
            <a:r>
              <a:rPr lang="en-US" sz="1400" dirty="0"/>
              <a:t> de </a:t>
            </a:r>
            <a:r>
              <a:rPr lang="en-US" sz="1400" dirty="0" err="1"/>
              <a:t>arribos</a:t>
            </a:r>
            <a:r>
              <a:rPr lang="en-US" sz="1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83142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5E637C-4386-5F90-87D7-D8BF9FBB5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289F0BD7-9D78-E216-FCD7-47638771B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0C8E499-8153-0441-6DFD-7D77480BC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3812A62-AF02-50E3-0929-3B36B0F8B2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30493F5-9BA7-C0B5-5876-57F9590BD2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0F5B301-0B83-B3C0-6A71-8ED8C93D4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2E318B-F2CB-765D-072A-96D7F7399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400" dirty="0">
                <a:solidFill>
                  <a:srgbClr val="FFFFFF"/>
                </a:solidFill>
              </a:rPr>
              <a:t>K-Means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6BDDB2C-92BD-9C5A-8147-A1723B48F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65" y="1928621"/>
            <a:ext cx="7169349" cy="424784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CB1B2297-CD28-8055-405C-014C3F4538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2665" y="2562448"/>
            <a:ext cx="4303422" cy="330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92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56BE5-97D8-CCCC-3F24-0AC11A820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Conclusiones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47CDDB-12B6-8409-FF77-AE22AEF5D7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77500" lnSpcReduction="20000"/>
          </a:bodyPr>
          <a:lstStyle/>
          <a:p>
            <a:r>
              <a:rPr lang="en-US" dirty="0"/>
              <a:t>Durante la Semana Santa, se </a:t>
            </a:r>
            <a:r>
              <a:rPr lang="en-US" dirty="0" err="1"/>
              <a:t>hacen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retiros</a:t>
            </a:r>
            <a:r>
              <a:rPr lang="en-US" dirty="0"/>
              <a:t> </a:t>
            </a:r>
            <a:r>
              <a:rPr lang="en-US" dirty="0" err="1"/>
              <a:t>desde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Jueves Santo a Domingo de </a:t>
            </a:r>
            <a:r>
              <a:rPr lang="en-US" dirty="0" err="1"/>
              <a:t>Resurección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resto de la </a:t>
            </a:r>
            <a:r>
              <a:rPr lang="en-US" dirty="0" err="1"/>
              <a:t>semana</a:t>
            </a:r>
            <a:r>
              <a:rPr lang="en-US" dirty="0"/>
              <a:t>.</a:t>
            </a:r>
          </a:p>
          <a:p>
            <a:r>
              <a:rPr lang="en-US" dirty="0"/>
              <a:t>Ha </a:t>
            </a:r>
            <a:r>
              <a:rPr lang="en-US" dirty="0" err="1"/>
              <a:t>sido</a:t>
            </a:r>
            <a:r>
              <a:rPr lang="en-US" dirty="0"/>
              <a:t> </a:t>
            </a:r>
            <a:r>
              <a:rPr lang="en-US" dirty="0" err="1"/>
              <a:t>posible</a:t>
            </a:r>
            <a:r>
              <a:rPr lang="en-US" dirty="0"/>
              <a:t> </a:t>
            </a:r>
            <a:r>
              <a:rPr lang="en-US" dirty="0" err="1"/>
              <a:t>separar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datos</a:t>
            </a:r>
            <a:r>
              <a:rPr lang="en-US" dirty="0"/>
              <a:t> del </a:t>
            </a:r>
            <a:r>
              <a:rPr lang="en-US" dirty="0" err="1"/>
              <a:t>promedio</a:t>
            </a:r>
            <a:r>
              <a:rPr lang="en-US" dirty="0"/>
              <a:t> de </a:t>
            </a:r>
            <a:r>
              <a:rPr lang="en-US" dirty="0" err="1"/>
              <a:t>retiros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función</a:t>
            </a:r>
            <a:r>
              <a:rPr lang="en-US" dirty="0"/>
              <a:t> del día de la </a:t>
            </a:r>
            <a:r>
              <a:rPr lang="en-US" dirty="0" err="1"/>
              <a:t>semana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días de mayor y </a:t>
            </a:r>
            <a:r>
              <a:rPr lang="en-US" dirty="0" err="1"/>
              <a:t>menor</a:t>
            </a:r>
            <a:r>
              <a:rPr lang="en-US" dirty="0"/>
              <a:t> </a:t>
            </a:r>
            <a:r>
              <a:rPr lang="en-US" dirty="0" err="1"/>
              <a:t>cantidad</a:t>
            </a:r>
            <a:r>
              <a:rPr lang="en-US" dirty="0"/>
              <a:t> de </a:t>
            </a:r>
            <a:r>
              <a:rPr lang="en-US" dirty="0" err="1"/>
              <a:t>retiros</a:t>
            </a:r>
            <a:r>
              <a:rPr lang="en-US" dirty="0"/>
              <a:t>.</a:t>
            </a:r>
          </a:p>
          <a:p>
            <a:r>
              <a:rPr lang="en-US" dirty="0"/>
              <a:t>Se </a:t>
            </a:r>
            <a:r>
              <a:rPr lang="en-US" dirty="0" err="1"/>
              <a:t>tiene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préstamo</a:t>
            </a:r>
            <a:r>
              <a:rPr lang="en-US" dirty="0"/>
              <a:t> de </a:t>
            </a:r>
            <a:r>
              <a:rPr lang="en-US" dirty="0" err="1"/>
              <a:t>bicicletas</a:t>
            </a:r>
            <a:r>
              <a:rPr lang="en-US" dirty="0"/>
              <a:t> ha </a:t>
            </a:r>
            <a:r>
              <a:rPr lang="en-US" dirty="0" err="1"/>
              <a:t>sido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años</a:t>
            </a:r>
            <a:r>
              <a:rPr lang="en-US" dirty="0"/>
              <a:t> </a:t>
            </a:r>
            <a:r>
              <a:rPr lang="en-US" dirty="0" err="1"/>
              <a:t>siguientes</a:t>
            </a:r>
            <a:r>
              <a:rPr lang="en-US" dirty="0"/>
              <a:t> a la pandemia,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años</a:t>
            </a:r>
            <a:r>
              <a:rPr lang="en-US" dirty="0"/>
              <a:t> </a:t>
            </a:r>
            <a:r>
              <a:rPr lang="en-US" dirty="0" err="1"/>
              <a:t>anteriores</a:t>
            </a:r>
            <a:r>
              <a:rPr lang="en-US" dirty="0"/>
              <a:t> a la </a:t>
            </a:r>
            <a:r>
              <a:rPr lang="en-US" dirty="0" err="1"/>
              <a:t>misma</a:t>
            </a:r>
            <a:r>
              <a:rPr lang="en-US" dirty="0"/>
              <a:t>.</a:t>
            </a:r>
          </a:p>
          <a:p>
            <a:pPr lvl="0"/>
            <a:r>
              <a:rPr lang="es-GT" dirty="0"/>
              <a:t>La estación en Ciudad de México, desde la que se hace el mayor número de retiros de bicicletas durante Semana Santa es la estación en CE-271-272 Jesús García – Carlos J. Meneses con 8008 retiros.</a:t>
            </a:r>
          </a:p>
          <a:p>
            <a:pPr lvl="0"/>
            <a:r>
              <a:rPr lang="es-GT" dirty="0"/>
              <a:t>La estación en Ciudad de México a la que arriba la mayor cantidad de bicicletas durante la Ciudad de México es la estación en CE-271-272 Jesús García – Carlos J. Meneses con 12213 arribos.</a:t>
            </a:r>
          </a:p>
          <a:p>
            <a:pPr lvl="0"/>
            <a:r>
              <a:rPr lang="es-GT" dirty="0"/>
              <a:t>Después de la época post pandemia se tiene un aumento de los viajes que permite diferenciar en 2 clúster, pero hay un claro traslape entre algunos clústeres, lo cual se explica en el tiempo de recuperación que es alrededor de 2020 a 2022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2637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A76D5-C4F4-03CA-6137-3167E4F09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Referencias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D557C2-1B29-775E-AE05-574ABC77B0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GT" dirty="0"/>
              <a:t>Procuraduría Federal de la Defensa del Trabajo. (2025, abril 8). </a:t>
            </a:r>
            <a:r>
              <a:rPr lang="es-GT" i="1" dirty="0"/>
              <a:t>Los días de Semana Santa 2025 ¿son días de descanso obligatorio?</a:t>
            </a:r>
            <a:r>
              <a:rPr lang="es-GT" dirty="0"/>
              <a:t> Gobierno de México. </a:t>
            </a:r>
            <a:r>
              <a:rPr lang="es-GT" u="sng" dirty="0">
                <a:hlinkClick r:id="rId2"/>
              </a:rPr>
              <a:t>https://www.gob.mx/profedet/articulos/los-dias-de-semana-santa-2025-son-dias-de-descanso-obligatorio</a:t>
            </a:r>
            <a:endParaRPr lang="es-GT" dirty="0"/>
          </a:p>
          <a:p>
            <a:pPr lvl="0"/>
            <a:r>
              <a:rPr lang="es-GT" dirty="0"/>
              <a:t>ECOBICI. (s.f.). </a:t>
            </a:r>
            <a:r>
              <a:rPr lang="es-GT" i="1" dirty="0"/>
              <a:t>Datos abiertos</a:t>
            </a:r>
            <a:r>
              <a:rPr lang="es-GT" dirty="0"/>
              <a:t>. Gobierno de la Ciudad de México. </a:t>
            </a:r>
            <a:r>
              <a:rPr lang="es-GT" u="sng" dirty="0">
                <a:hlinkClick r:id="rId3"/>
              </a:rPr>
              <a:t>https://ecobici.cdmx.gob.mx/datos-abiertos/</a:t>
            </a:r>
            <a:endParaRPr lang="es-GT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31399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711</TotalTime>
  <Words>660</Words>
  <Application>Microsoft Office PowerPoint</Application>
  <PresentationFormat>Panorámica</PresentationFormat>
  <Paragraphs>40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Tema de Office</vt:lpstr>
      <vt:lpstr>Proyecto 1 Seminario 2</vt:lpstr>
      <vt:lpstr>Preguntas de investigación</vt:lpstr>
      <vt:lpstr>Descripción de los datos</vt:lpstr>
      <vt:lpstr>Influencia de la pandemia en el uso de bicicletas</vt:lpstr>
      <vt:lpstr>PCA de retiros promedio </vt:lpstr>
      <vt:lpstr>Préstamos de bicicletas durante la semana</vt:lpstr>
      <vt:lpstr>Mapa de calor de estaciones de retiro</vt:lpstr>
      <vt:lpstr>Mapa de calor de estaciones de arribo</vt:lpstr>
      <vt:lpstr>K-Means</vt:lpstr>
      <vt:lpstr>Conclusiones</vt:lpstr>
      <vt:lpstr>Referencias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CASTELLANOS PAZ, IAN ARI</cp:lastModifiedBy>
  <cp:revision>188</cp:revision>
  <dcterms:created xsi:type="dcterms:W3CDTF">2026-04-15T19:02:49Z</dcterms:created>
  <dcterms:modified xsi:type="dcterms:W3CDTF">2026-04-18T06:24:23Z</dcterms:modified>
</cp:coreProperties>
</file>