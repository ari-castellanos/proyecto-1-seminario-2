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1" r:id="rId6"/>
    <p:sldId id="263" r:id="rId7"/>
    <p:sldId id="265" r:id="rId8"/>
    <p:sldId id="266" r:id="rId9"/>
    <p:sldId id="260" r:id="rId10"/>
    <p:sldId id="262" r:id="rId1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C371C5-C818-BDBD-7521-303D212469CB}" v="1234" dt="2026-04-15T19:53:08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60"/>
  </p:normalViewPr>
  <p:slideViewPr>
    <p:cSldViewPr snapToGrid="0">
      <p:cViewPr varScale="1">
        <p:scale>
          <a:sx n="94" d="100"/>
          <a:sy n="94" d="100"/>
        </p:scale>
        <p:origin x="110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cobici.cdmx.gob.mx/datos-abiertos/" TargetMode="External"/><Relationship Id="rId2" Type="http://schemas.openxmlformats.org/officeDocument/2006/relationships/hyperlink" Target="https://www.gob.mx/profedet/articulos/los-dias-de-semana-santa-2025-son-dias-de-descanso-obligatori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/>
              <a:t>Proyecto 1 Seminario 2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Ricardo Rodríguez 18907</a:t>
            </a:r>
          </a:p>
          <a:p>
            <a:r>
              <a:rPr lang="es-ES"/>
              <a:t>Ian Castellanos 22128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81BC3-D3E5-BF85-1689-0DB736917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Preguntas</a:t>
            </a:r>
            <a:r>
              <a:rPr lang="en-US" dirty="0"/>
              <a:t> de </a:t>
            </a:r>
            <a:r>
              <a:rPr lang="en-US" dirty="0" err="1"/>
              <a:t>investigación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F7AA-D9BE-D440-F244-2E2A07114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11889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se </a:t>
            </a:r>
            <a:r>
              <a:rPr lang="en-US" dirty="0" err="1"/>
              <a:t>vio</a:t>
            </a:r>
            <a:r>
              <a:rPr lang="en-US" dirty="0"/>
              <a:t> </a:t>
            </a:r>
            <a:r>
              <a:rPr lang="en-US" dirty="0" err="1"/>
              <a:t>afectado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biciletas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del COVID-19?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días son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 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¿Las </a:t>
            </a:r>
            <a:r>
              <a:rPr lang="en-US" dirty="0" err="1"/>
              <a:t>frecuencias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y </a:t>
            </a:r>
            <a:r>
              <a:rPr lang="en-US" dirty="0" err="1"/>
              <a:t>retiro</a:t>
            </a:r>
            <a:r>
              <a:rPr lang="en-US" dirty="0"/>
              <a:t> </a:t>
            </a:r>
            <a:r>
              <a:rPr lang="en-US" dirty="0" err="1"/>
              <a:t>serán</a:t>
            </a:r>
            <a:r>
              <a:rPr lang="en-US" dirty="0"/>
              <a:t> </a:t>
            </a:r>
            <a:r>
              <a:rPr lang="en-US" dirty="0" err="1"/>
              <a:t>mayores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mapa</a:t>
            </a:r>
            <a:r>
              <a:rPr lang="en-US" dirty="0"/>
              <a:t> de </a:t>
            </a:r>
            <a:r>
              <a:rPr lang="en-US" dirty="0" err="1"/>
              <a:t>estaciones</a:t>
            </a:r>
            <a:r>
              <a:rPr lang="en-US" dirty="0"/>
              <a:t> de ECOBICI?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dejan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¿Es </a:t>
            </a:r>
            <a:r>
              <a:rPr lang="en-US" dirty="0" err="1"/>
              <a:t>posible</a:t>
            </a:r>
            <a:r>
              <a:rPr lang="en-US" dirty="0"/>
              <a:t> </a:t>
            </a:r>
            <a:r>
              <a:rPr lang="en-US" dirty="0" err="1"/>
              <a:t>categorizar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post pandemia a </a:t>
            </a:r>
            <a:r>
              <a:rPr lang="en-US" dirty="0" err="1"/>
              <a:t>partir</a:t>
            </a:r>
            <a:r>
              <a:rPr lang="en-US" dirty="0"/>
              <a:t> de la </a:t>
            </a:r>
            <a:r>
              <a:rPr lang="en-US" dirty="0" err="1"/>
              <a:t>cantidad</a:t>
            </a:r>
            <a:r>
              <a:rPr lang="en-US" dirty="0"/>
              <a:t> de </a:t>
            </a:r>
            <a:r>
              <a:rPr lang="en-US" dirty="0" err="1"/>
              <a:t>viajes</a:t>
            </a:r>
            <a:r>
              <a:rPr lang="en-US" dirty="0"/>
              <a:t> y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tipo</a:t>
            </a:r>
            <a:r>
              <a:rPr lang="en-US" dirty="0"/>
              <a:t> de día? </a:t>
            </a:r>
          </a:p>
        </p:txBody>
      </p:sp>
    </p:spTree>
    <p:extLst>
      <p:ext uri="{BB962C8B-B14F-4D97-AF65-F5344CB8AC3E}">
        <p14:creationId xmlns:p14="http://schemas.microsoft.com/office/powerpoint/2010/main" val="3336810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A0D9-E23A-434F-85BE-7CE0C799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Descripción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1742-1A0E-6DDB-549A-CBC319F33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Se </a:t>
            </a:r>
            <a:r>
              <a:rPr lang="en-US" dirty="0" err="1"/>
              <a:t>han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históricos</a:t>
            </a:r>
            <a:r>
              <a:rPr lang="en-US" dirty="0"/>
              <a:t> de ECOBICI </a:t>
            </a:r>
            <a:r>
              <a:rPr lang="en-US" dirty="0" err="1"/>
              <a:t>correspondientes</a:t>
            </a:r>
            <a:r>
              <a:rPr lang="en-US" dirty="0"/>
              <a:t> a la Semana Santa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2015 al 2025.</a:t>
            </a:r>
          </a:p>
          <a:p>
            <a:r>
              <a:rPr lang="en-US" dirty="0"/>
              <a:t>Las variables </a:t>
            </a:r>
            <a:r>
              <a:rPr lang="en-US" dirty="0" err="1"/>
              <a:t>consideradas</a:t>
            </a:r>
            <a:r>
              <a:rPr lang="en-US" dirty="0"/>
              <a:t> para </a:t>
            </a:r>
            <a:r>
              <a:rPr lang="en-US" dirty="0" err="1"/>
              <a:t>el</a:t>
            </a:r>
            <a:r>
              <a:rPr lang="en-US" dirty="0"/>
              <a:t> </a:t>
            </a:r>
            <a:r>
              <a:rPr lang="en-US" dirty="0" err="1"/>
              <a:t>análisis</a:t>
            </a:r>
            <a:r>
              <a:rPr lang="en-US" dirty="0"/>
              <a:t> </a:t>
            </a:r>
            <a:r>
              <a:rPr lang="en-US" dirty="0" err="1"/>
              <a:t>fueron</a:t>
            </a:r>
            <a:r>
              <a:rPr lang="en-US" dirty="0"/>
              <a:t>: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retiro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,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de la </a:t>
            </a:r>
            <a:r>
              <a:rPr lang="en-US" dirty="0" err="1"/>
              <a:t>bicicleta</a:t>
            </a:r>
            <a:r>
              <a:rPr lang="en-US" dirty="0"/>
              <a:t>, </a:t>
            </a:r>
            <a:r>
              <a:rPr lang="en-US" dirty="0" err="1"/>
              <a:t>nombre</a:t>
            </a:r>
            <a:r>
              <a:rPr lang="en-US" dirty="0"/>
              <a:t> de </a:t>
            </a:r>
            <a:r>
              <a:rPr lang="en-US" dirty="0" err="1"/>
              <a:t>estación</a:t>
            </a:r>
            <a:r>
              <a:rPr lang="en-US" dirty="0"/>
              <a:t>, </a:t>
            </a:r>
            <a:r>
              <a:rPr lang="en-US" dirty="0" err="1"/>
              <a:t>coordenadas</a:t>
            </a:r>
            <a:r>
              <a:rPr lang="en-US" dirty="0"/>
              <a:t> de la </a:t>
            </a:r>
            <a:r>
              <a:rPr lang="en-US" dirty="0" err="1"/>
              <a:t>estación</a:t>
            </a:r>
            <a:endParaRPr lang="en-US" dirty="0"/>
          </a:p>
          <a:p>
            <a:r>
              <a:rPr lang="en-US" dirty="0"/>
              <a:t>Los </a:t>
            </a:r>
            <a:r>
              <a:rPr lang="en-US" dirty="0" err="1"/>
              <a:t>datos</a:t>
            </a:r>
            <a:r>
              <a:rPr lang="en-US" dirty="0"/>
              <a:t> no </a:t>
            </a:r>
            <a:r>
              <a:rPr lang="en-US" dirty="0" err="1"/>
              <a:t>contaban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2834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7B8F08-64E1-BDCA-745A-0D80ABE25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>
                <a:solidFill>
                  <a:srgbClr val="FFFFFF"/>
                </a:solidFill>
              </a:rPr>
              <a:t>Influencia de la pandemia en el uso de bicicletas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E15F4B84-8A57-CD3F-DD4D-A8F67E221A9E}"/>
              </a:ext>
            </a:extLst>
          </p:cNvPr>
          <p:cNvSpPr txBox="1"/>
          <p:nvPr/>
        </p:nvSpPr>
        <p:spPr>
          <a:xfrm>
            <a:off x="1306286" y="5431229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1</a:t>
            </a:r>
            <a:r>
              <a:rPr lang="en-US" sz="1400" dirty="0"/>
              <a:t>. </a:t>
            </a:r>
            <a:r>
              <a:rPr lang="en-US" sz="1400" dirty="0" err="1"/>
              <a:t>Influencia</a:t>
            </a:r>
            <a:r>
              <a:rPr lang="en-US" sz="1400" dirty="0"/>
              <a:t> de la pandemia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el</a:t>
            </a:r>
            <a:r>
              <a:rPr lang="en-US" sz="1400" dirty="0"/>
              <a:t> </a:t>
            </a:r>
            <a:r>
              <a:rPr lang="en-US" sz="1400" dirty="0" err="1"/>
              <a:t>préstamo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Semana Santa de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años</a:t>
            </a:r>
            <a:r>
              <a:rPr lang="en-US" sz="1400" dirty="0"/>
              <a:t> 2015-2025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1EC1150-20D1-2C04-2018-215E831AC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00" y="2377303"/>
            <a:ext cx="5929955" cy="3053926"/>
          </a:xfrm>
          <a:prstGeom prst="rect">
            <a:avLst/>
          </a:prstGeom>
        </p:spPr>
      </p:pic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C8A9C486-0991-237C-142C-FA0A064BE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774611" y="1905350"/>
            <a:ext cx="1430894" cy="39978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BF0CD938-E75F-A789-B89A-430304E64F95}"/>
              </a:ext>
            </a:extLst>
          </p:cNvPr>
          <p:cNvSpPr txBox="1"/>
          <p:nvPr/>
        </p:nvSpPr>
        <p:spPr>
          <a:xfrm>
            <a:off x="8016428" y="5776772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1</a:t>
            </a:r>
            <a:r>
              <a:rPr lang="en-US" sz="1400" dirty="0"/>
              <a:t>. </a:t>
            </a:r>
            <a:r>
              <a:rPr lang="en-US" sz="1400" dirty="0" err="1"/>
              <a:t>Tabla</a:t>
            </a:r>
            <a:r>
              <a:rPr lang="en-US" sz="1400" dirty="0"/>
              <a:t> de la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total </a:t>
            </a:r>
            <a:r>
              <a:rPr lang="en-US" sz="1400" dirty="0" err="1"/>
              <a:t>durante</a:t>
            </a:r>
            <a:r>
              <a:rPr lang="en-US" sz="1400" dirty="0"/>
              <a:t> Semana Santa.</a:t>
            </a:r>
          </a:p>
        </p:txBody>
      </p:sp>
    </p:spTree>
    <p:extLst>
      <p:ext uri="{BB962C8B-B14F-4D97-AF65-F5344CB8AC3E}">
        <p14:creationId xmlns:p14="http://schemas.microsoft.com/office/powerpoint/2010/main" val="391069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85D9FD-4EA7-988D-B7B1-75994B58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0101C2-4733-925E-AF79-6E887E43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989716" cy="1719072"/>
          </a:xfrm>
        </p:spPr>
        <p:txBody>
          <a:bodyPr anchor="b">
            <a:normAutofit/>
          </a:bodyPr>
          <a:lstStyle/>
          <a:p>
            <a:r>
              <a:rPr lang="en-US" sz="3800" dirty="0" err="1"/>
              <a:t>Préstamos</a:t>
            </a:r>
            <a:r>
              <a:rPr lang="en-US" sz="3800" dirty="0"/>
              <a:t> de </a:t>
            </a:r>
            <a:r>
              <a:rPr lang="en-US" sz="3800" dirty="0" err="1"/>
              <a:t>bicicletas</a:t>
            </a:r>
            <a:r>
              <a:rPr lang="en-US" sz="3800" dirty="0"/>
              <a:t> </a:t>
            </a:r>
            <a:r>
              <a:rPr lang="en-US" sz="3800" dirty="0" err="1"/>
              <a:t>durante</a:t>
            </a:r>
            <a:r>
              <a:rPr lang="en-US" sz="3800" dirty="0"/>
              <a:t> la </a:t>
            </a:r>
            <a:r>
              <a:rPr lang="en-US" sz="3800" dirty="0" err="1"/>
              <a:t>semana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6703EC-F08B-D6CA-C596-B3E79CD9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25403"/>
            <a:ext cx="6903720" cy="3607193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FB50825-FE3F-86E0-36A8-AE17B86DF2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122" y="3016400"/>
            <a:ext cx="3044806" cy="266203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B9C9D231-BA5F-2DAD-31C9-238F06EC0339}"/>
              </a:ext>
            </a:extLst>
          </p:cNvPr>
          <p:cNvSpPr txBox="1"/>
          <p:nvPr/>
        </p:nvSpPr>
        <p:spPr>
          <a:xfrm>
            <a:off x="6354148" y="5232596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2</a:t>
            </a:r>
            <a:r>
              <a:rPr lang="en-US" sz="1400" dirty="0"/>
              <a:t>. </a:t>
            </a:r>
            <a:r>
              <a:rPr lang="en-US" sz="1400" dirty="0" err="1"/>
              <a:t>Patrón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 </a:t>
            </a:r>
            <a:r>
              <a:rPr lang="en-US" sz="1400" dirty="0" err="1"/>
              <a:t>promedio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 </a:t>
            </a:r>
            <a:r>
              <a:rPr lang="en-US" sz="1400" dirty="0" err="1"/>
              <a:t>durante</a:t>
            </a:r>
            <a:r>
              <a:rPr lang="en-US" sz="1400" dirty="0"/>
              <a:t> la Semana Santa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1B0FABF0-8A63-602B-4327-338A1A1FBF0C}"/>
              </a:ext>
            </a:extLst>
          </p:cNvPr>
          <p:cNvSpPr txBox="1"/>
          <p:nvPr/>
        </p:nvSpPr>
        <p:spPr>
          <a:xfrm>
            <a:off x="793102" y="5656952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2</a:t>
            </a:r>
            <a:r>
              <a:rPr lang="en-US" sz="1400" dirty="0"/>
              <a:t>. </a:t>
            </a:r>
            <a:r>
              <a:rPr lang="es-GT" sz="1400" dirty="0"/>
              <a:t>Tabla de los días de la Semana Santa con mayores retiros de bicicletas en Ciudad de México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25783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6A3000-7648-F4A8-FD09-38C894BED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Mapa de calor de estaciones de retiro</a:t>
            </a:r>
          </a:p>
        </p:txBody>
      </p:sp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8201D0B7-B6C2-CBD4-BBE7-5FF280F75B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912" y="2181328"/>
            <a:ext cx="5131088" cy="3514795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D767D5-403E-EC3A-D888-C55A5FFC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0" r="2" b="2"/>
          <a:stretch>
            <a:fillRect/>
          </a:stretch>
        </p:blipFill>
        <p:spPr>
          <a:xfrm>
            <a:off x="8502272" y="1796172"/>
            <a:ext cx="2534957" cy="3997831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351BC7B9-9BF1-148C-6D7A-2939E8524A4B}"/>
              </a:ext>
            </a:extLst>
          </p:cNvPr>
          <p:cNvSpPr txBox="1"/>
          <p:nvPr/>
        </p:nvSpPr>
        <p:spPr>
          <a:xfrm>
            <a:off x="7791014" y="5794003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3</a:t>
            </a:r>
            <a:r>
              <a:rPr lang="en-US" sz="1400" dirty="0"/>
              <a:t>. Mapa de </a:t>
            </a:r>
            <a:r>
              <a:rPr lang="en-US" sz="1400" dirty="0" err="1"/>
              <a:t>calor</a:t>
            </a:r>
            <a:r>
              <a:rPr lang="en-US" sz="1400" dirty="0"/>
              <a:t> de </a:t>
            </a:r>
            <a:r>
              <a:rPr lang="en-US" sz="1400" dirty="0" err="1"/>
              <a:t>estaciones</a:t>
            </a:r>
            <a:r>
              <a:rPr lang="en-US" sz="1400" dirty="0"/>
              <a:t> de </a:t>
            </a:r>
            <a:r>
              <a:rPr lang="en-US" sz="1400" dirty="0" err="1"/>
              <a:t>retiro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México.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E3F74F53-31D3-2874-C032-73F104221758}"/>
              </a:ext>
            </a:extLst>
          </p:cNvPr>
          <p:cNvSpPr txBox="1"/>
          <p:nvPr/>
        </p:nvSpPr>
        <p:spPr>
          <a:xfrm>
            <a:off x="1296956" y="5674387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3</a:t>
            </a:r>
            <a:r>
              <a:rPr lang="en-US" sz="1400" dirty="0"/>
              <a:t>. 10 </a:t>
            </a:r>
            <a:r>
              <a:rPr lang="en-US" sz="1400" dirty="0" err="1"/>
              <a:t>estaciones</a:t>
            </a:r>
            <a:r>
              <a:rPr lang="en-US" sz="1400" dirty="0"/>
              <a:t> con mayor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9934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A6A5E8-C994-D282-49EF-2A7146DDD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2C8913E-50D7-A16E-DFF4-509478BBB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690EA5-F2B1-D984-E90F-F0376DD0E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25B4B2A-CAD1-A46C-CE5A-CE33F0CDB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984913-92B8-86CB-AD56-A5AF34014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F4ECEB9-06F0-7999-7836-533195574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28A983-FBD4-0E1A-D2CA-04EED1B6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dirty="0">
                <a:solidFill>
                  <a:srgbClr val="FFFFFF"/>
                </a:solidFill>
              </a:rPr>
              <a:t>Mapa de </a:t>
            </a:r>
            <a:r>
              <a:rPr lang="en-US" sz="3400" dirty="0" err="1">
                <a:solidFill>
                  <a:srgbClr val="FFFFFF"/>
                </a:solidFill>
              </a:rPr>
              <a:t>calor</a:t>
            </a:r>
            <a:r>
              <a:rPr lang="en-US" sz="3400" dirty="0">
                <a:solidFill>
                  <a:srgbClr val="FFFFFF"/>
                </a:solidFill>
              </a:rPr>
              <a:t> de </a:t>
            </a:r>
            <a:r>
              <a:rPr lang="en-US" sz="3400" dirty="0" err="1">
                <a:solidFill>
                  <a:srgbClr val="FFFFFF"/>
                </a:solidFill>
              </a:rPr>
              <a:t>estaciones</a:t>
            </a:r>
            <a:r>
              <a:rPr lang="en-US" sz="3400" dirty="0">
                <a:solidFill>
                  <a:srgbClr val="FFFFFF"/>
                </a:solidFill>
              </a:rPr>
              <a:t> de </a:t>
            </a:r>
            <a:r>
              <a:rPr lang="en-US" sz="3400" dirty="0" err="1">
                <a:solidFill>
                  <a:srgbClr val="FFFFFF"/>
                </a:solidFill>
              </a:rPr>
              <a:t>arribo</a:t>
            </a:r>
            <a:endParaRPr lang="en-US" sz="3400" dirty="0">
              <a:solidFill>
                <a:srgbClr val="FFFFFF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268B393-4A59-C28C-70AA-64FB4CE7FA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2114" y="2030161"/>
            <a:ext cx="2395907" cy="350051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3E81CE5-3C71-F632-1D77-77E22217C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909" y="2099387"/>
            <a:ext cx="5553569" cy="3450361"/>
          </a:xfrm>
          <a:prstGeom prst="rect">
            <a:avLst/>
          </a:prstGeom>
        </p:spPr>
      </p:pic>
      <p:sp>
        <p:nvSpPr>
          <p:cNvPr id="9" name="TextBox 4">
            <a:extLst>
              <a:ext uri="{FF2B5EF4-FFF2-40B4-BE49-F238E27FC236}">
                <a16:creationId xmlns:a16="http://schemas.microsoft.com/office/drawing/2014/main" id="{B47209F1-9D3E-6FE9-EAFD-A182B1AB2659}"/>
              </a:ext>
            </a:extLst>
          </p:cNvPr>
          <p:cNvSpPr txBox="1"/>
          <p:nvPr/>
        </p:nvSpPr>
        <p:spPr>
          <a:xfrm>
            <a:off x="7716417" y="5549748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4</a:t>
            </a:r>
            <a:r>
              <a:rPr lang="en-US" sz="1400" dirty="0"/>
              <a:t>. Mapa de </a:t>
            </a:r>
            <a:r>
              <a:rPr lang="en-US" sz="1400" dirty="0" err="1"/>
              <a:t>calor</a:t>
            </a:r>
            <a:r>
              <a:rPr lang="en-US" sz="1400" dirty="0"/>
              <a:t> de </a:t>
            </a:r>
            <a:r>
              <a:rPr lang="en-US" sz="1400" dirty="0" err="1"/>
              <a:t>estaciones</a:t>
            </a:r>
            <a:r>
              <a:rPr lang="en-US" sz="1400" dirty="0"/>
              <a:t> de </a:t>
            </a:r>
            <a:r>
              <a:rPr lang="en-US" sz="1400" dirty="0" err="1"/>
              <a:t>arribo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C1F82835-069E-3EC9-013E-2FA95CFF5FCB}"/>
              </a:ext>
            </a:extLst>
          </p:cNvPr>
          <p:cNvSpPr txBox="1"/>
          <p:nvPr/>
        </p:nvSpPr>
        <p:spPr>
          <a:xfrm>
            <a:off x="1604866" y="5549748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4</a:t>
            </a:r>
            <a:r>
              <a:rPr lang="en-US" sz="1400" dirty="0"/>
              <a:t>. 10 </a:t>
            </a:r>
            <a:r>
              <a:rPr lang="en-US" sz="1400" dirty="0" err="1"/>
              <a:t>estaciones</a:t>
            </a:r>
            <a:r>
              <a:rPr lang="en-US" sz="1400" dirty="0"/>
              <a:t> con mayor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arribos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8314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D7194-C290-E63C-01A6-CBD2B224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35D70A-D246-BA80-639B-F2AB3AE55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K-Means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FA8EA9-D8ED-A32D-02B9-C78F440C6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03" y="2099797"/>
            <a:ext cx="7169349" cy="424784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9FB337F-20C3-C2D9-B0AB-3A0B6044A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665" y="2562448"/>
            <a:ext cx="4303422" cy="330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917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6BE5-97D8-CCCC-3F24-0AC11A820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7CDDB-12B6-8409-FF77-AE22AEF5D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2618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/>
              <a:t>Durante la Semana Santa, se </a:t>
            </a:r>
            <a:r>
              <a:rPr lang="en-US" dirty="0" err="1"/>
              <a:t>hacen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Jueves Santo a Domingo de </a:t>
            </a:r>
            <a:r>
              <a:rPr lang="en-US" dirty="0" err="1"/>
              <a:t>Resurección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resto de la </a:t>
            </a:r>
            <a:r>
              <a:rPr lang="en-US" dirty="0" err="1"/>
              <a:t>semana</a:t>
            </a:r>
            <a:r>
              <a:rPr lang="en-US" dirty="0"/>
              <a:t>.</a:t>
            </a:r>
          </a:p>
          <a:p>
            <a:r>
              <a:rPr lang="en-US" dirty="0"/>
              <a:t>Se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préstamo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 ha </a:t>
            </a:r>
            <a:r>
              <a:rPr lang="en-US" dirty="0" err="1"/>
              <a:t>sido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siguientes</a:t>
            </a:r>
            <a:r>
              <a:rPr lang="en-US" dirty="0"/>
              <a:t> a la pandemia,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anteriores</a:t>
            </a:r>
            <a:r>
              <a:rPr lang="en-US" dirty="0"/>
              <a:t> a la </a:t>
            </a:r>
            <a:r>
              <a:rPr lang="en-US" dirty="0" err="1"/>
              <a:t>misma</a:t>
            </a:r>
            <a:r>
              <a:rPr lang="en-US" dirty="0"/>
              <a:t>.</a:t>
            </a:r>
          </a:p>
          <a:p>
            <a:pPr lvl="0"/>
            <a:r>
              <a:rPr lang="es-GT" dirty="0"/>
              <a:t>La estación en Ciudad de México, desde la que se hace el mayor número de retiros de bicicletas durante Semana Santa es la estación en CE-271-272 Jesús García – Carlos J. Meneses con 8008 retiros.</a:t>
            </a:r>
          </a:p>
          <a:p>
            <a:pPr lvl="0"/>
            <a:r>
              <a:rPr lang="es-GT" dirty="0"/>
              <a:t>La estación en Ciudad de México a la que arriba la mayor cantidad de bicicletas durante la Ciudad de México es la estación en CE-271-272 Jesús García – Carlos J. Meneses con 12213 arribos.</a:t>
            </a:r>
          </a:p>
          <a:p>
            <a:pPr lvl="0"/>
            <a:r>
              <a:rPr lang="es-GT" dirty="0"/>
              <a:t>Después de la época post pandemia se tiene un aumento de los viajes que permite diferenciar en 2 </a:t>
            </a:r>
            <a:r>
              <a:rPr lang="es-GT" dirty="0" err="1"/>
              <a:t>cluster</a:t>
            </a:r>
            <a:r>
              <a:rPr lang="es-GT" dirty="0"/>
              <a:t>, pero hay un claro traslape entre algunos </a:t>
            </a:r>
            <a:r>
              <a:rPr lang="es-GT" dirty="0" err="1"/>
              <a:t>clusters</a:t>
            </a:r>
            <a:r>
              <a:rPr lang="es-GT" dirty="0"/>
              <a:t>, lo cual se explica en el tiempo de recuperación que es alrededor de 2020 a 2022.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3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76D5-C4F4-03CA-6137-3167E4F0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Referencias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557C2-1B29-775E-AE05-574ABC77B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GT" dirty="0"/>
              <a:t>Procuraduría Federal de la Defensa del Trabajo. (2025, abril 8). </a:t>
            </a:r>
            <a:r>
              <a:rPr lang="es-GT" i="1" dirty="0"/>
              <a:t>Los días de Semana Santa 2025 ¿son días de descanso obligatorio?</a:t>
            </a:r>
            <a:r>
              <a:rPr lang="es-GT" dirty="0"/>
              <a:t> Gobierno de México. </a:t>
            </a:r>
            <a:r>
              <a:rPr lang="es-GT" u="sng" dirty="0">
                <a:hlinkClick r:id="rId2"/>
              </a:rPr>
              <a:t>https://www.gob.mx/profedet/articulos/los-dias-de-semana-santa-2025-son-dias-de-descanso-obligatorio</a:t>
            </a:r>
            <a:endParaRPr lang="es-GT" dirty="0"/>
          </a:p>
          <a:p>
            <a:pPr lvl="0"/>
            <a:r>
              <a:rPr lang="es-GT" dirty="0"/>
              <a:t>ECOBICI. (s.f.). </a:t>
            </a:r>
            <a:r>
              <a:rPr lang="es-GT" i="1" dirty="0"/>
              <a:t>Datos abiertos</a:t>
            </a:r>
            <a:r>
              <a:rPr lang="es-GT" dirty="0"/>
              <a:t>. Gobierno de la Ciudad de México. </a:t>
            </a:r>
            <a:r>
              <a:rPr lang="es-GT" u="sng" dirty="0">
                <a:hlinkClick r:id="rId3"/>
              </a:rPr>
              <a:t>https://ecobici.cdmx.gob.mx/datos-abiertos/</a:t>
            </a:r>
            <a:endParaRPr lang="es-G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3139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565</Words>
  <Application>Microsoft Office PowerPoint</Application>
  <PresentationFormat>Panorámica</PresentationFormat>
  <Paragraphs>36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de Office</vt:lpstr>
      <vt:lpstr>Proyecto 1 Seminario 2</vt:lpstr>
      <vt:lpstr>Preguntas de investigación</vt:lpstr>
      <vt:lpstr>Descripción de los datos</vt:lpstr>
      <vt:lpstr>Influencia de la pandemia en el uso de bicicletas</vt:lpstr>
      <vt:lpstr>Préstamos de bicicletas durante la semana</vt:lpstr>
      <vt:lpstr>Mapa de calor de estaciones de retiro</vt:lpstr>
      <vt:lpstr>Mapa de calor de estaciones de arribo</vt:lpstr>
      <vt:lpstr>K-Means</vt:lpstr>
      <vt:lpstr>Conclusiones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RODRIGUEZ RODRIGUEZ, JOSE RICARDO</cp:lastModifiedBy>
  <cp:revision>187</cp:revision>
  <dcterms:created xsi:type="dcterms:W3CDTF">2026-04-15T19:02:49Z</dcterms:created>
  <dcterms:modified xsi:type="dcterms:W3CDTF">2026-04-18T00:34:57Z</dcterms:modified>
</cp:coreProperties>
</file>