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3" r:id="rId5"/>
    <p:sldId id="259" r:id="rId6"/>
    <p:sldId id="261" r:id="rId7"/>
    <p:sldId id="260" r:id="rId8"/>
    <p:sldId id="262" r:id="rId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C371C5-C818-BDBD-7521-303D212469CB}" v="1234" dt="2026-04-15T19:53:08.2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20" autoAdjust="0"/>
    <p:restoredTop sz="94660"/>
  </p:normalViewPr>
  <p:slideViewPr>
    <p:cSldViewPr snapToGrid="0">
      <p:cViewPr varScale="1">
        <p:scale>
          <a:sx n="73" d="100"/>
          <a:sy n="73" d="100"/>
        </p:scale>
        <p:origin x="72" y="3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15/04/2026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88191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15/04/2026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981744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15/04/2026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39700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15/04/2026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79029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15/04/2026</a:t>
            </a:fld>
            <a:endParaRPr lang="es-E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52394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15/04/2026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306586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15/04/2026</a:t>
            </a:fld>
            <a:endParaRPr lang="es-E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2375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15/04/2026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60449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15/04/2026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6035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15/04/2026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41863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15/04/2026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150962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771E8B-6CA5-40B2-8038-0E112F3DAC1C}" type="datetimeFigureOut">
              <a:rPr lang="es-ES" smtClean="0"/>
              <a:t>15/04/2026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1556C4-DFC3-4611-A7CC-780699185E2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3311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/>
              <a:t>Proyecto 1 Seminario 2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Ricardo Rodríguez 18907</a:t>
            </a:r>
          </a:p>
          <a:p>
            <a:r>
              <a:rPr lang="es-ES"/>
              <a:t>Ian Castellanos 22128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406273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81BC3-D3E5-BF85-1689-0DB736917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Preguntas</a:t>
            </a:r>
            <a:r>
              <a:rPr lang="en-US" dirty="0"/>
              <a:t> de </a:t>
            </a:r>
            <a:r>
              <a:rPr lang="en-US" dirty="0" err="1"/>
              <a:t>investigación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BCF7AA-D9BE-D440-F244-2E2A071147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AutoNum type="arabicPeriod"/>
            </a:pPr>
            <a:r>
              <a:rPr lang="en-US" dirty="0"/>
              <a:t>¿</a:t>
            </a:r>
            <a:r>
              <a:rPr lang="en-US" dirty="0" err="1"/>
              <a:t>Cómo</a:t>
            </a:r>
            <a:r>
              <a:rPr lang="en-US" dirty="0"/>
              <a:t> se </a:t>
            </a:r>
            <a:r>
              <a:rPr lang="en-US" dirty="0" err="1"/>
              <a:t>vio</a:t>
            </a:r>
            <a:r>
              <a:rPr lang="en-US" dirty="0"/>
              <a:t> </a:t>
            </a:r>
            <a:r>
              <a:rPr lang="en-US" dirty="0" err="1"/>
              <a:t>afectado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uso</a:t>
            </a:r>
            <a:r>
              <a:rPr lang="en-US" dirty="0"/>
              <a:t> de </a:t>
            </a:r>
            <a:r>
              <a:rPr lang="en-US" dirty="0" err="1"/>
              <a:t>biciletas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la </a:t>
            </a:r>
            <a:r>
              <a:rPr lang="en-US" dirty="0" err="1"/>
              <a:t>época</a:t>
            </a:r>
            <a:r>
              <a:rPr lang="en-US" dirty="0"/>
              <a:t> del COVID-19?</a:t>
            </a:r>
          </a:p>
          <a:p>
            <a:pPr marL="514350" indent="-514350">
              <a:buAutoNum type="arabicPeriod"/>
            </a:pPr>
            <a:r>
              <a:rPr lang="en-US" dirty="0"/>
              <a:t>¿</a:t>
            </a:r>
            <a:r>
              <a:rPr lang="en-US" dirty="0" err="1"/>
              <a:t>Cuáles</a:t>
            </a:r>
            <a:r>
              <a:rPr lang="en-US" dirty="0"/>
              <a:t> días son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se </a:t>
            </a:r>
            <a:r>
              <a:rPr lang="en-US" dirty="0" err="1"/>
              <a:t>prestan</a:t>
            </a:r>
            <a:r>
              <a:rPr lang="en-US" dirty="0"/>
              <a:t> 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bicicletas</a:t>
            </a:r>
            <a:r>
              <a:rPr lang="en-US" dirty="0"/>
              <a:t>?</a:t>
            </a:r>
          </a:p>
          <a:p>
            <a:pPr marL="514350" indent="-514350">
              <a:buAutoNum type="arabicPeriod"/>
            </a:pPr>
            <a:r>
              <a:rPr lang="en-US" dirty="0"/>
              <a:t>¿Las </a:t>
            </a:r>
            <a:r>
              <a:rPr lang="en-US" dirty="0" err="1"/>
              <a:t>frecuencias</a:t>
            </a:r>
            <a:r>
              <a:rPr lang="en-US" dirty="0"/>
              <a:t> de </a:t>
            </a:r>
            <a:r>
              <a:rPr lang="en-US" dirty="0" err="1"/>
              <a:t>arribo</a:t>
            </a:r>
            <a:r>
              <a:rPr lang="en-US" dirty="0"/>
              <a:t> y </a:t>
            </a:r>
            <a:r>
              <a:rPr lang="en-US" dirty="0" err="1"/>
              <a:t>retiro</a:t>
            </a:r>
            <a:r>
              <a:rPr lang="en-US" dirty="0"/>
              <a:t> </a:t>
            </a:r>
            <a:r>
              <a:rPr lang="en-US" dirty="0" err="1"/>
              <a:t>serán</a:t>
            </a:r>
            <a:r>
              <a:rPr lang="en-US" dirty="0"/>
              <a:t> </a:t>
            </a:r>
            <a:r>
              <a:rPr lang="en-US" dirty="0" err="1"/>
              <a:t>mayores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centro</a:t>
            </a:r>
            <a:r>
              <a:rPr lang="en-US" dirty="0"/>
              <a:t> del </a:t>
            </a:r>
            <a:r>
              <a:rPr lang="en-US" dirty="0" err="1"/>
              <a:t>mapa</a:t>
            </a:r>
            <a:r>
              <a:rPr lang="en-US" dirty="0"/>
              <a:t> de </a:t>
            </a:r>
            <a:r>
              <a:rPr lang="en-US" dirty="0" err="1"/>
              <a:t>estaciones</a:t>
            </a:r>
            <a:r>
              <a:rPr lang="en-US" dirty="0"/>
              <a:t> de ECOBICI?</a:t>
            </a:r>
          </a:p>
          <a:p>
            <a:pPr marL="514350" indent="-514350">
              <a:buAutoNum type="arabicPeriod"/>
            </a:pPr>
            <a:r>
              <a:rPr lang="en-US" dirty="0"/>
              <a:t>¿</a:t>
            </a:r>
            <a:r>
              <a:rPr lang="en-US" dirty="0" err="1"/>
              <a:t>Cuáles</a:t>
            </a:r>
            <a:r>
              <a:rPr lang="en-US" dirty="0"/>
              <a:t> son las </a:t>
            </a:r>
            <a:r>
              <a:rPr lang="en-US" dirty="0" err="1"/>
              <a:t>estaciones</a:t>
            </a:r>
            <a:r>
              <a:rPr lang="en-US" dirty="0"/>
              <a:t> </a:t>
            </a:r>
            <a:r>
              <a:rPr lang="en-US" dirty="0" err="1"/>
              <a:t>en</a:t>
            </a:r>
            <a:r>
              <a:rPr lang="en-US" dirty="0"/>
              <a:t> las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se </a:t>
            </a:r>
            <a:r>
              <a:rPr lang="en-US" dirty="0" err="1"/>
              <a:t>prestan</a:t>
            </a:r>
            <a:r>
              <a:rPr lang="en-US" dirty="0"/>
              <a:t> </a:t>
            </a:r>
            <a:r>
              <a:rPr lang="en-US" dirty="0" err="1"/>
              <a:t>bicicletas</a:t>
            </a:r>
            <a:r>
              <a:rPr lang="en-US" dirty="0"/>
              <a:t>?</a:t>
            </a:r>
          </a:p>
          <a:p>
            <a:pPr marL="514350" indent="-514350">
              <a:buAutoNum type="arabicPeriod"/>
            </a:pPr>
            <a:r>
              <a:rPr lang="en-US" dirty="0"/>
              <a:t>¿</a:t>
            </a:r>
            <a:r>
              <a:rPr lang="en-US" dirty="0" err="1"/>
              <a:t>Cuáles</a:t>
            </a:r>
            <a:r>
              <a:rPr lang="en-US" dirty="0"/>
              <a:t> son las </a:t>
            </a:r>
            <a:r>
              <a:rPr lang="en-US" dirty="0" err="1"/>
              <a:t>estaciones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la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dejan</a:t>
            </a:r>
            <a:r>
              <a:rPr lang="en-US" dirty="0"/>
              <a:t> </a:t>
            </a:r>
            <a:r>
              <a:rPr lang="en-US" dirty="0" err="1"/>
              <a:t>bicicletas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336810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CA0D9-E23A-434F-85BE-7CE0C7994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Descripción</a:t>
            </a:r>
            <a:r>
              <a:rPr lang="en-US" dirty="0"/>
              <a:t> de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datos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6D1742-1A0E-6DDB-549A-CBC319F339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Se </a:t>
            </a:r>
            <a:r>
              <a:rPr lang="en-US" dirty="0" err="1"/>
              <a:t>han</a:t>
            </a:r>
            <a:r>
              <a:rPr lang="en-US" dirty="0"/>
              <a:t> </a:t>
            </a:r>
            <a:r>
              <a:rPr lang="en-US" dirty="0" err="1"/>
              <a:t>usado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datos</a:t>
            </a:r>
            <a:r>
              <a:rPr lang="en-US" dirty="0"/>
              <a:t> </a:t>
            </a:r>
            <a:r>
              <a:rPr lang="en-US" dirty="0" err="1"/>
              <a:t>históricos</a:t>
            </a:r>
            <a:r>
              <a:rPr lang="en-US" dirty="0"/>
              <a:t> de ECOBICI </a:t>
            </a:r>
            <a:r>
              <a:rPr lang="en-US" dirty="0" err="1"/>
              <a:t>correspondientes</a:t>
            </a:r>
            <a:r>
              <a:rPr lang="en-US" dirty="0"/>
              <a:t> a la Semana Santa </a:t>
            </a:r>
            <a:r>
              <a:rPr lang="en-US" dirty="0" err="1"/>
              <a:t>desde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2015 al 2025.</a:t>
            </a:r>
          </a:p>
          <a:p>
            <a:r>
              <a:rPr lang="en-US" dirty="0"/>
              <a:t>Las variables </a:t>
            </a:r>
            <a:r>
              <a:rPr lang="en-US" dirty="0" err="1"/>
              <a:t>consideradas</a:t>
            </a:r>
            <a:r>
              <a:rPr lang="en-US" dirty="0"/>
              <a:t> para </a:t>
            </a:r>
            <a:r>
              <a:rPr lang="en-US" dirty="0" err="1"/>
              <a:t>el</a:t>
            </a:r>
            <a:r>
              <a:rPr lang="en-US" dirty="0"/>
              <a:t> </a:t>
            </a:r>
            <a:r>
              <a:rPr lang="en-US" dirty="0" err="1"/>
              <a:t>análisis</a:t>
            </a:r>
            <a:r>
              <a:rPr lang="en-US" dirty="0"/>
              <a:t> </a:t>
            </a:r>
            <a:r>
              <a:rPr lang="en-US" dirty="0" err="1"/>
              <a:t>fueron</a:t>
            </a:r>
            <a:r>
              <a:rPr lang="en-US" dirty="0"/>
              <a:t>: </a:t>
            </a:r>
            <a:r>
              <a:rPr lang="en-US" dirty="0" err="1"/>
              <a:t>Fecha</a:t>
            </a:r>
            <a:r>
              <a:rPr lang="en-US" dirty="0"/>
              <a:t> de </a:t>
            </a:r>
            <a:r>
              <a:rPr lang="en-US" dirty="0" err="1"/>
              <a:t>retiro</a:t>
            </a:r>
            <a:r>
              <a:rPr lang="en-US" dirty="0"/>
              <a:t> de </a:t>
            </a:r>
            <a:r>
              <a:rPr lang="en-US" dirty="0" err="1"/>
              <a:t>bicicletas</a:t>
            </a:r>
            <a:r>
              <a:rPr lang="en-US" dirty="0"/>
              <a:t>, </a:t>
            </a:r>
            <a:r>
              <a:rPr lang="en-US" dirty="0" err="1"/>
              <a:t>fecha</a:t>
            </a:r>
            <a:r>
              <a:rPr lang="en-US" dirty="0"/>
              <a:t> de </a:t>
            </a:r>
            <a:r>
              <a:rPr lang="en-US" dirty="0" err="1"/>
              <a:t>arribo</a:t>
            </a:r>
            <a:r>
              <a:rPr lang="en-US" dirty="0"/>
              <a:t> de la </a:t>
            </a:r>
            <a:r>
              <a:rPr lang="en-US" dirty="0" err="1"/>
              <a:t>bicicleta</a:t>
            </a:r>
            <a:r>
              <a:rPr lang="en-US" dirty="0"/>
              <a:t>, </a:t>
            </a:r>
            <a:r>
              <a:rPr lang="en-US" dirty="0" err="1"/>
              <a:t>nombre</a:t>
            </a:r>
            <a:r>
              <a:rPr lang="en-US" dirty="0"/>
              <a:t> de </a:t>
            </a:r>
            <a:r>
              <a:rPr lang="en-US" dirty="0" err="1"/>
              <a:t>estación</a:t>
            </a:r>
            <a:r>
              <a:rPr lang="en-US" dirty="0"/>
              <a:t>, </a:t>
            </a:r>
            <a:r>
              <a:rPr lang="en-US" dirty="0" err="1"/>
              <a:t>coordenadas</a:t>
            </a:r>
            <a:r>
              <a:rPr lang="en-US" dirty="0"/>
              <a:t> de la </a:t>
            </a:r>
            <a:r>
              <a:rPr lang="en-US" dirty="0" err="1"/>
              <a:t>estación</a:t>
            </a:r>
            <a:endParaRPr lang="en-US" dirty="0"/>
          </a:p>
          <a:p>
            <a:r>
              <a:rPr lang="en-US" dirty="0"/>
              <a:t>Los </a:t>
            </a:r>
            <a:r>
              <a:rPr lang="en-US" dirty="0" err="1"/>
              <a:t>datos</a:t>
            </a:r>
            <a:r>
              <a:rPr lang="en-US" dirty="0"/>
              <a:t> no </a:t>
            </a:r>
            <a:r>
              <a:rPr lang="en-US" dirty="0" err="1"/>
              <a:t>contaban</a:t>
            </a:r>
            <a:r>
              <a:rPr lang="en-US" dirty="0"/>
              <a:t> con </a:t>
            </a:r>
            <a:r>
              <a:rPr lang="en-US" dirty="0" err="1"/>
              <a:t>datos</a:t>
            </a:r>
            <a:r>
              <a:rPr lang="en-US" dirty="0"/>
              <a:t> </a:t>
            </a:r>
            <a:r>
              <a:rPr lang="en-US" dirty="0" err="1"/>
              <a:t>faltantes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328341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B66D7F65-E9B6-4775-8355-D095CC73C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6A3000-7648-F4A8-FD09-38C894BED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6" y="502021"/>
            <a:ext cx="6173262" cy="1655483"/>
          </a:xfrm>
        </p:spPr>
        <p:txBody>
          <a:bodyPr anchor="b">
            <a:normAutofit/>
          </a:bodyPr>
          <a:lstStyle/>
          <a:p>
            <a:r>
              <a:rPr lang="en-US" sz="4000"/>
              <a:t>Mapa de calor de estaciones de retiro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1776977E-BACF-89CE-59C9-494EB12486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6397" y="2408518"/>
            <a:ext cx="6173262" cy="3535083"/>
          </a:xfrm>
        </p:spPr>
        <p:txBody>
          <a:bodyPr>
            <a:normAutofit/>
          </a:bodyPr>
          <a:lstStyle/>
          <a:p>
            <a:endParaRPr lang="en-US" sz="200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3D767D5-403E-EC3A-D888-C55A5FFCF3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10" r="2" b="2"/>
          <a:stretch>
            <a:fillRect/>
          </a:stretch>
        </p:blipFill>
        <p:spPr>
          <a:xfrm>
            <a:off x="8115300" y="-12515"/>
            <a:ext cx="4076700" cy="6418631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61707E60-CEC9-4661-AA82-69242EB4BD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6116"/>
            <a:ext cx="12191998" cy="461774"/>
          </a:xfrm>
          <a:prstGeom prst="rect">
            <a:avLst/>
          </a:prstGeom>
          <a:gradFill>
            <a:gsLst>
              <a:gs pos="0">
                <a:srgbClr val="000000"/>
              </a:gs>
              <a:gs pos="70000">
                <a:schemeClr val="accent1">
                  <a:lumMod val="7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F035CD8-AE30-4146-96F2-036B0CE5E4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300" y="6406115"/>
            <a:ext cx="4076698" cy="464399"/>
          </a:xfrm>
          <a:prstGeom prst="rect">
            <a:avLst/>
          </a:prstGeom>
          <a:gradFill>
            <a:gsLst>
              <a:gs pos="19000">
                <a:srgbClr val="000000">
                  <a:alpha val="46000"/>
                </a:srgbClr>
              </a:gs>
              <a:gs pos="99000">
                <a:schemeClr val="accent1"/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3486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306C9-CE7A-23A0-872C-0E567F4F6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693" y="741391"/>
            <a:ext cx="3455821" cy="1616203"/>
          </a:xfrm>
        </p:spPr>
        <p:txBody>
          <a:bodyPr anchor="b">
            <a:normAutofit/>
          </a:bodyPr>
          <a:lstStyle/>
          <a:p>
            <a:r>
              <a:rPr lang="en-US" sz="3200" dirty="0" err="1"/>
              <a:t>Visualización</a:t>
            </a:r>
            <a:r>
              <a:rPr lang="en-US" sz="3200" dirty="0"/>
              <a:t> de </a:t>
            </a:r>
            <a:r>
              <a:rPr lang="en-US" sz="3200" dirty="0" err="1"/>
              <a:t>los</a:t>
            </a:r>
            <a:r>
              <a:rPr lang="en-US" sz="3200" dirty="0"/>
              <a:t> </a:t>
            </a:r>
            <a:r>
              <a:rPr lang="en-US" sz="3200" dirty="0" err="1"/>
              <a:t>datos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9678DC7-FA19-384D-41F0-6533B55D0B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6693" y="2533476"/>
            <a:ext cx="3455821" cy="3447832"/>
          </a:xfrm>
        </p:spPr>
        <p:txBody>
          <a:bodyPr anchor="t">
            <a:normAutofit/>
          </a:bodyPr>
          <a:lstStyle/>
          <a:p>
            <a:r>
              <a:rPr lang="en-US" sz="2000" dirty="0"/>
              <a:t>Es </a:t>
            </a:r>
            <a:r>
              <a:rPr lang="en-US" sz="2000" dirty="0" err="1"/>
              <a:t>posible</a:t>
            </a:r>
            <a:r>
              <a:rPr lang="en-US" sz="2000" dirty="0"/>
              <a:t> </a:t>
            </a:r>
            <a:r>
              <a:rPr lang="en-US" sz="2000" dirty="0" err="1"/>
              <a:t>observar</a:t>
            </a:r>
            <a:r>
              <a:rPr lang="en-US" sz="2000" dirty="0"/>
              <a:t> </a:t>
            </a:r>
            <a:r>
              <a:rPr lang="en-US" sz="2000" dirty="0" err="1"/>
              <a:t>que</a:t>
            </a:r>
            <a:r>
              <a:rPr lang="en-US" sz="2000" dirty="0"/>
              <a:t> </a:t>
            </a:r>
            <a:r>
              <a:rPr lang="en-US" sz="2000" dirty="0" err="1"/>
              <a:t>los</a:t>
            </a:r>
            <a:r>
              <a:rPr lang="en-US" sz="2000" dirty="0"/>
              <a:t> </a:t>
            </a:r>
            <a:r>
              <a:rPr lang="en-US" sz="2000" dirty="0" err="1"/>
              <a:t>datos</a:t>
            </a:r>
            <a:r>
              <a:rPr lang="en-US" sz="2000" dirty="0"/>
              <a:t> se </a:t>
            </a:r>
            <a:r>
              <a:rPr lang="en-US" sz="2000" dirty="0" err="1"/>
              <a:t>dividen</a:t>
            </a:r>
            <a:r>
              <a:rPr lang="en-US" sz="2000" dirty="0"/>
              <a:t> </a:t>
            </a:r>
            <a:r>
              <a:rPr lang="en-US" sz="2000" dirty="0" err="1"/>
              <a:t>en</a:t>
            </a:r>
            <a:r>
              <a:rPr lang="en-US" sz="2000" dirty="0"/>
              <a:t> dos conjuntos bien </a:t>
            </a:r>
            <a:r>
              <a:rPr lang="en-US" sz="2000" dirty="0" err="1"/>
              <a:t>diferenciados</a:t>
            </a:r>
            <a:r>
              <a:rPr lang="en-US" sz="2000" dirty="0"/>
              <a:t>.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20DAE6F-2E2D-B070-56D2-3B9743617C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7672" y="1013690"/>
            <a:ext cx="6128388" cy="4662477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6258F736-B256-8039-9DC6-F4E49A5C5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0B4520A-996E-330C-99DA-69CA4D89E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C8FA945-E356-695F-18D6-CAD4EF34F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F11294EC-74C2-68D6-F7FD-3E33FDF18C9F}"/>
              </a:ext>
            </a:extLst>
          </p:cNvPr>
          <p:cNvSpPr txBox="1"/>
          <p:nvPr/>
        </p:nvSpPr>
        <p:spPr>
          <a:xfrm>
            <a:off x="5425230" y="5681379"/>
            <a:ext cx="4897400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dirty="0"/>
              <a:t>Figura1. </a:t>
            </a:r>
            <a:r>
              <a:rPr lang="en-US" sz="1600" dirty="0" err="1"/>
              <a:t>Visualización</a:t>
            </a:r>
            <a:r>
              <a:rPr lang="en-US" sz="1600" dirty="0"/>
              <a:t> con PCA del conjunto de </a:t>
            </a:r>
            <a:r>
              <a:rPr lang="en-US" sz="1600" dirty="0" err="1"/>
              <a:t>datos</a:t>
            </a:r>
            <a:r>
              <a:rPr lang="en-US" sz="1600" dirty="0"/>
              <a:t> </a:t>
            </a:r>
            <a:r>
              <a:rPr lang="en-US" sz="1600" dirty="0" err="1"/>
              <a:t>usado</a:t>
            </a:r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22390448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85D9FD-4EA7-988D-B7B1-75994B58F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0101C2-4733-925E-AF79-6E887E4391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989716" cy="1719072"/>
          </a:xfrm>
        </p:spPr>
        <p:txBody>
          <a:bodyPr anchor="b">
            <a:normAutofit/>
          </a:bodyPr>
          <a:lstStyle/>
          <a:p>
            <a:r>
              <a:rPr lang="en-US" sz="3800" dirty="0" err="1"/>
              <a:t>Préstamos</a:t>
            </a:r>
            <a:r>
              <a:rPr lang="en-US" sz="3800" dirty="0"/>
              <a:t> de </a:t>
            </a:r>
            <a:r>
              <a:rPr lang="en-US" sz="3800" dirty="0" err="1"/>
              <a:t>bicicletas</a:t>
            </a:r>
            <a:r>
              <a:rPr lang="en-US" sz="3800" dirty="0"/>
              <a:t> </a:t>
            </a:r>
            <a:r>
              <a:rPr lang="en-US" sz="3800" dirty="0" err="1"/>
              <a:t>durante</a:t>
            </a:r>
            <a:r>
              <a:rPr lang="en-US" sz="3800" dirty="0"/>
              <a:t> la </a:t>
            </a:r>
            <a:r>
              <a:rPr lang="en-US" sz="3800" dirty="0" err="1"/>
              <a:t>semana</a:t>
            </a:r>
          </a:p>
        </p:txBody>
      </p:sp>
      <p:sp>
        <p:nvSpPr>
          <p:cNvPr id="20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2210A55-7B50-8D9C-D0B2-79DE765DA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en-US" sz="2200" dirty="0"/>
              <a:t>Se </a:t>
            </a:r>
            <a:r>
              <a:rPr lang="en-US" sz="2200" dirty="0" err="1"/>
              <a:t>observa</a:t>
            </a:r>
            <a:r>
              <a:rPr lang="en-US" sz="2200" dirty="0"/>
              <a:t> de la </a:t>
            </a:r>
            <a:r>
              <a:rPr lang="en-US" sz="2200" dirty="0" err="1"/>
              <a:t>figura</a:t>
            </a:r>
            <a:r>
              <a:rPr lang="en-US" sz="2200" dirty="0"/>
              <a:t> </a:t>
            </a:r>
            <a:r>
              <a:rPr lang="en-US" sz="2200" dirty="0" err="1"/>
              <a:t>que</a:t>
            </a:r>
            <a:r>
              <a:rPr lang="en-US" sz="2200" dirty="0"/>
              <a:t> </a:t>
            </a:r>
            <a:r>
              <a:rPr lang="en-US" sz="2200" dirty="0" err="1"/>
              <a:t>los</a:t>
            </a:r>
            <a:r>
              <a:rPr lang="en-US" sz="2200" dirty="0"/>
              <a:t> días lunes, martes y </a:t>
            </a:r>
            <a:r>
              <a:rPr lang="en-US" sz="2200" dirty="0" err="1"/>
              <a:t>miércoles</a:t>
            </a:r>
            <a:r>
              <a:rPr lang="en-US" sz="2200" dirty="0"/>
              <a:t> son </a:t>
            </a:r>
            <a:r>
              <a:rPr lang="en-US" sz="2200" dirty="0" err="1"/>
              <a:t>aquellos</a:t>
            </a:r>
            <a:r>
              <a:rPr lang="en-US" sz="2200" dirty="0"/>
              <a:t> </a:t>
            </a:r>
            <a:r>
              <a:rPr lang="en-US" sz="2200" dirty="0" err="1"/>
              <a:t>en</a:t>
            </a:r>
            <a:r>
              <a:rPr lang="en-US" sz="2200" dirty="0"/>
              <a:t> </a:t>
            </a:r>
            <a:r>
              <a:rPr lang="en-US" sz="2200" dirty="0" err="1"/>
              <a:t>que</a:t>
            </a:r>
            <a:r>
              <a:rPr lang="en-US" sz="2200" dirty="0"/>
              <a:t> se ha </a:t>
            </a:r>
            <a:r>
              <a:rPr lang="en-US" sz="2200" dirty="0" err="1"/>
              <a:t>realizado</a:t>
            </a:r>
            <a:r>
              <a:rPr lang="en-US" sz="2200" dirty="0"/>
              <a:t> mayor </a:t>
            </a:r>
            <a:r>
              <a:rPr lang="en-US" sz="2200" dirty="0" err="1"/>
              <a:t>número</a:t>
            </a:r>
            <a:r>
              <a:rPr lang="en-US" sz="2200" dirty="0"/>
              <a:t> de </a:t>
            </a:r>
            <a:r>
              <a:rPr lang="en-US" sz="2200" dirty="0" err="1"/>
              <a:t>retiros</a:t>
            </a:r>
            <a:r>
              <a:rPr lang="en-US" sz="2200" dirty="0"/>
              <a:t> de </a:t>
            </a:r>
            <a:r>
              <a:rPr lang="en-US" sz="2200" dirty="0" err="1"/>
              <a:t>bicletas</a:t>
            </a:r>
            <a:r>
              <a:rPr lang="en-US" sz="2200" dirty="0"/>
              <a:t>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6703EC-F08B-D6CA-C596-B3E79CD94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625403"/>
            <a:ext cx="6903720" cy="3607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7837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56BE5-97D8-CCCC-3F24-0AC11A820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Conclusiones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47CDDB-12B6-8409-FF77-AE22AEF5D7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Durante la Semana Santa, se </a:t>
            </a:r>
            <a:r>
              <a:rPr lang="en-US" dirty="0" err="1"/>
              <a:t>hacen</a:t>
            </a:r>
            <a:r>
              <a:rPr lang="en-US" dirty="0"/>
              <a:t> </a:t>
            </a:r>
            <a:r>
              <a:rPr lang="en-US" dirty="0" err="1"/>
              <a:t>menos</a:t>
            </a:r>
            <a:r>
              <a:rPr lang="en-US" dirty="0"/>
              <a:t> </a:t>
            </a:r>
            <a:r>
              <a:rPr lang="en-US" dirty="0" err="1"/>
              <a:t>retiros</a:t>
            </a:r>
            <a:r>
              <a:rPr lang="en-US" dirty="0"/>
              <a:t> </a:t>
            </a:r>
            <a:r>
              <a:rPr lang="en-US" dirty="0" err="1"/>
              <a:t>desde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Jueves Santo a Domingo de </a:t>
            </a:r>
            <a:r>
              <a:rPr lang="en-US" dirty="0" err="1"/>
              <a:t>Resurección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resto de la </a:t>
            </a:r>
            <a:r>
              <a:rPr lang="en-US" dirty="0" err="1"/>
              <a:t>semana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992637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A76D5-C4F4-03CA-6137-3167E4F09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Referencias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D557C2-1B29-775E-AE05-574ABC77B0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31399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Tema de Office</vt:lpstr>
      <vt:lpstr>Proyecto 1 Seminario 2</vt:lpstr>
      <vt:lpstr>Preguntas de investigación</vt:lpstr>
      <vt:lpstr>Descripción de los datos</vt:lpstr>
      <vt:lpstr>Mapa de calor de estaciones de retiro</vt:lpstr>
      <vt:lpstr>Visualización de los datos</vt:lpstr>
      <vt:lpstr>Préstamos de bicicletas durante la semana</vt:lpstr>
      <vt:lpstr>Conclusiones</vt:lpstr>
      <vt:lpstr>Referencias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180</cp:revision>
  <dcterms:created xsi:type="dcterms:W3CDTF">2026-04-15T19:02:49Z</dcterms:created>
  <dcterms:modified xsi:type="dcterms:W3CDTF">2026-04-15T21:40:37Z</dcterms:modified>
</cp:coreProperties>
</file>